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9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6858000" cy="9720263"/>
  <p:notesSz cx="9720263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882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28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2D2A-0A57-96B1-EEF4-90B3F6E9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B4A7F-9CC6-05B4-EF4C-5A02BA967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83EC4-A582-5E2B-F1E3-60F42D2C6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3D230-361B-6610-5CDC-5030ED8BA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6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e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35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A06B3D"/>
          </a:solidFill>
          <a:ln w="12700">
            <a:solidFill>
              <a:srgbClr val="A06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6793992"/>
            <a:ext cx="4389120" cy="4389120"/>
          </a:xfrm>
          <a:prstGeom prst="ellipse">
            <a:avLst/>
          </a:prstGeom>
          <a:solidFill>
            <a:srgbClr val="5C3B20"/>
          </a:solidFill>
          <a:ln w="12700">
            <a:solidFill>
              <a:srgbClr val="5C3B2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64592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297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청년38국수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371600" y="5532120"/>
            <a:ext cx="4114800" cy="36576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5577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300" dirty="0">
                <a:solidFill>
                  <a:srgbClr val="F7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메뉴 &amp; 레시피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0" y="6400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7EBD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부모의 마음을 담은 한 그릇 삼팔국수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8595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EBD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가맹점 제공용 | 내부 자료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메뉴 구성안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Overview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메뉴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28600" y="1170432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3" name="Text 9"/>
          <p:cNvSpPr/>
          <p:nvPr/>
        </p:nvSpPr>
        <p:spPr>
          <a:xfrm>
            <a:off x="320040" y="11704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국수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28600" y="1481328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320040" y="14813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다산38국수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423160" y="148132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28600" y="1728216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8" name="Text 14"/>
          <p:cNvSpPr/>
          <p:nvPr/>
        </p:nvSpPr>
        <p:spPr>
          <a:xfrm>
            <a:off x="320040" y="172821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얼큰국수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423160" y="17282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5,800원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28600" y="197510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320040" y="197510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김치듬뿍국수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423160" y="197510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5,800원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28600" y="2221992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4" name="Text 20"/>
          <p:cNvSpPr/>
          <p:nvPr/>
        </p:nvSpPr>
        <p:spPr>
          <a:xfrm>
            <a:off x="320040" y="222199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어묵국수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423160" y="222199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5,800원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28600" y="2468880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/>
          <p:nvPr/>
        </p:nvSpPr>
        <p:spPr>
          <a:xfrm>
            <a:off x="320040" y="246888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비빔국수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423160" y="246888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6,800원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28600" y="2715768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0" name="Text 26"/>
          <p:cNvSpPr/>
          <p:nvPr/>
        </p:nvSpPr>
        <p:spPr>
          <a:xfrm>
            <a:off x="320040" y="271576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얼큰어묵국수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2423160" y="271576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6,800원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28600" y="2962656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9"/>
          <p:cNvSpPr/>
          <p:nvPr/>
        </p:nvSpPr>
        <p:spPr>
          <a:xfrm>
            <a:off x="320040" y="296265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소고기국수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2423160" y="296265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228600" y="3209544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6" name="Text 32"/>
          <p:cNvSpPr/>
          <p:nvPr/>
        </p:nvSpPr>
        <p:spPr>
          <a:xfrm>
            <a:off x="320040" y="320954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얼큰고기국수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2423160" y="320954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538728" y="1170432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9" name="Text 35"/>
          <p:cNvSpPr/>
          <p:nvPr/>
        </p:nvSpPr>
        <p:spPr>
          <a:xfrm>
            <a:off x="3630168" y="11704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칼국수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3538728" y="1481328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7"/>
          <p:cNvSpPr/>
          <p:nvPr/>
        </p:nvSpPr>
        <p:spPr>
          <a:xfrm>
            <a:off x="3630168" y="14813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칼국수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5733288" y="148132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5,800원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538728" y="1728216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4" name="Text 40"/>
          <p:cNvSpPr/>
          <p:nvPr/>
        </p:nvSpPr>
        <p:spPr>
          <a:xfrm>
            <a:off x="3630168" y="172821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얼큰칼국수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5733288" y="172821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6,800원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3538728" y="197510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3"/>
          <p:cNvSpPr/>
          <p:nvPr/>
        </p:nvSpPr>
        <p:spPr>
          <a:xfrm>
            <a:off x="3630168" y="197510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칼국수세트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5733288" y="197510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538728" y="2221992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Text 46"/>
          <p:cNvSpPr/>
          <p:nvPr/>
        </p:nvSpPr>
        <p:spPr>
          <a:xfrm>
            <a:off x="3630168" y="222199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얼큰칼국수세트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5733288" y="222199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8,800원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3538728" y="2468880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49"/>
          <p:cNvSpPr/>
          <p:nvPr/>
        </p:nvSpPr>
        <p:spPr>
          <a:xfrm>
            <a:off x="3630168" y="246888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들깨칼국수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5733288" y="246888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3538728" y="2715768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6" name="Text 52"/>
          <p:cNvSpPr/>
          <p:nvPr/>
        </p:nvSpPr>
        <p:spPr>
          <a:xfrm>
            <a:off x="3630168" y="271576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우육칼국수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733288" y="271576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3538728" y="2962656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5"/>
          <p:cNvSpPr/>
          <p:nvPr/>
        </p:nvSpPr>
        <p:spPr>
          <a:xfrm>
            <a:off x="3630168" y="296265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감자칼국수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5733288" y="296265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8,800원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3538728" y="3209544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2" name="Text 58"/>
          <p:cNvSpPr/>
          <p:nvPr/>
        </p:nvSpPr>
        <p:spPr>
          <a:xfrm>
            <a:off x="3630168" y="320954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낙지볶음칼국수</a:t>
            </a:r>
            <a:endParaRPr lang="en-US" sz="950" dirty="0"/>
          </a:p>
        </p:txBody>
      </p:sp>
      <p:sp>
        <p:nvSpPr>
          <p:cNvPr id="63" name="Text 59"/>
          <p:cNvSpPr/>
          <p:nvPr/>
        </p:nvSpPr>
        <p:spPr>
          <a:xfrm>
            <a:off x="5733288" y="320954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8,800원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228600" y="3584448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65" name="Text 61"/>
          <p:cNvSpPr/>
          <p:nvPr/>
        </p:nvSpPr>
        <p:spPr>
          <a:xfrm>
            <a:off x="320040" y="358444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여름메뉴</a:t>
            </a:r>
            <a:endParaRPr lang="en-US" sz="1150" dirty="0"/>
          </a:p>
        </p:txBody>
      </p:sp>
      <p:sp>
        <p:nvSpPr>
          <p:cNvPr id="66" name="Shape 62"/>
          <p:cNvSpPr/>
          <p:nvPr/>
        </p:nvSpPr>
        <p:spPr>
          <a:xfrm>
            <a:off x="228600" y="389534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3"/>
          <p:cNvSpPr/>
          <p:nvPr/>
        </p:nvSpPr>
        <p:spPr>
          <a:xfrm>
            <a:off x="320040" y="389534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물냉면</a:t>
            </a:r>
            <a:endParaRPr lang="en-US" sz="950" dirty="0"/>
          </a:p>
        </p:txBody>
      </p:sp>
      <p:sp>
        <p:nvSpPr>
          <p:cNvPr id="68" name="Text 64"/>
          <p:cNvSpPr/>
          <p:nvPr/>
        </p:nvSpPr>
        <p:spPr>
          <a:xfrm>
            <a:off x="2423160" y="389534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6,800원</a:t>
            </a:r>
            <a:endParaRPr lang="en-US" sz="950" dirty="0"/>
          </a:p>
        </p:txBody>
      </p:sp>
      <p:sp>
        <p:nvSpPr>
          <p:cNvPr id="69" name="Shape 65"/>
          <p:cNvSpPr/>
          <p:nvPr/>
        </p:nvSpPr>
        <p:spPr>
          <a:xfrm>
            <a:off x="228600" y="4142232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70" name="Text 66"/>
          <p:cNvSpPr/>
          <p:nvPr/>
        </p:nvSpPr>
        <p:spPr>
          <a:xfrm>
            <a:off x="320040" y="414223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비빔냉면</a:t>
            </a:r>
            <a:endParaRPr lang="en-US" sz="950" dirty="0"/>
          </a:p>
        </p:txBody>
      </p:sp>
      <p:sp>
        <p:nvSpPr>
          <p:cNvPr id="71" name="Text 67"/>
          <p:cNvSpPr/>
          <p:nvPr/>
        </p:nvSpPr>
        <p:spPr>
          <a:xfrm>
            <a:off x="2423160" y="414223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72" name="Shape 68"/>
          <p:cNvSpPr/>
          <p:nvPr/>
        </p:nvSpPr>
        <p:spPr>
          <a:xfrm>
            <a:off x="228600" y="4389120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69"/>
          <p:cNvSpPr/>
          <p:nvPr/>
        </p:nvSpPr>
        <p:spPr>
          <a:xfrm>
            <a:off x="320040" y="43891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냉국수</a:t>
            </a:r>
            <a:endParaRPr lang="en-US" sz="950" dirty="0"/>
          </a:p>
        </p:txBody>
      </p:sp>
      <p:sp>
        <p:nvSpPr>
          <p:cNvPr id="74" name="Text 70"/>
          <p:cNvSpPr/>
          <p:nvPr/>
        </p:nvSpPr>
        <p:spPr>
          <a:xfrm>
            <a:off x="2423160" y="438912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6,800원</a:t>
            </a:r>
            <a:endParaRPr lang="en-US" sz="950" dirty="0"/>
          </a:p>
        </p:txBody>
      </p:sp>
      <p:sp>
        <p:nvSpPr>
          <p:cNvPr id="75" name="Shape 71"/>
          <p:cNvSpPr/>
          <p:nvPr/>
        </p:nvSpPr>
        <p:spPr>
          <a:xfrm>
            <a:off x="228600" y="4636008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76" name="Text 72"/>
          <p:cNvSpPr/>
          <p:nvPr/>
        </p:nvSpPr>
        <p:spPr>
          <a:xfrm>
            <a:off x="320040" y="463600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메밀싹냉국수</a:t>
            </a:r>
            <a:endParaRPr lang="en-US" sz="950" dirty="0"/>
          </a:p>
        </p:txBody>
      </p:sp>
      <p:sp>
        <p:nvSpPr>
          <p:cNvPr id="77" name="Text 73"/>
          <p:cNvSpPr/>
          <p:nvPr/>
        </p:nvSpPr>
        <p:spPr>
          <a:xfrm>
            <a:off x="2423160" y="463600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6,800원</a:t>
            </a:r>
            <a:endParaRPr lang="en-US" sz="950" dirty="0"/>
          </a:p>
        </p:txBody>
      </p:sp>
      <p:sp>
        <p:nvSpPr>
          <p:cNvPr id="78" name="Shape 74"/>
          <p:cNvSpPr/>
          <p:nvPr/>
        </p:nvSpPr>
        <p:spPr>
          <a:xfrm>
            <a:off x="228600" y="4882896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5"/>
          <p:cNvSpPr/>
          <p:nvPr/>
        </p:nvSpPr>
        <p:spPr>
          <a:xfrm>
            <a:off x="320040" y="488289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열무국수</a:t>
            </a:r>
            <a:endParaRPr lang="en-US" sz="950" dirty="0"/>
          </a:p>
        </p:txBody>
      </p:sp>
      <p:sp>
        <p:nvSpPr>
          <p:cNvPr id="80" name="Text 76"/>
          <p:cNvSpPr/>
          <p:nvPr/>
        </p:nvSpPr>
        <p:spPr>
          <a:xfrm>
            <a:off x="2423160" y="488289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81" name="Shape 77"/>
          <p:cNvSpPr/>
          <p:nvPr/>
        </p:nvSpPr>
        <p:spPr>
          <a:xfrm>
            <a:off x="228600" y="5129784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82" name="Text 78"/>
          <p:cNvSpPr/>
          <p:nvPr/>
        </p:nvSpPr>
        <p:spPr>
          <a:xfrm>
            <a:off x="320040" y="512978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콩국수</a:t>
            </a:r>
            <a:endParaRPr lang="en-US" sz="950" dirty="0"/>
          </a:p>
        </p:txBody>
      </p:sp>
      <p:sp>
        <p:nvSpPr>
          <p:cNvPr id="83" name="Text 79"/>
          <p:cNvSpPr/>
          <p:nvPr/>
        </p:nvSpPr>
        <p:spPr>
          <a:xfrm>
            <a:off x="2423160" y="512978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  <p:sp>
        <p:nvSpPr>
          <p:cNvPr id="84" name="Shape 80"/>
          <p:cNvSpPr/>
          <p:nvPr/>
        </p:nvSpPr>
        <p:spPr>
          <a:xfrm>
            <a:off x="3538728" y="3584448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85" name="Text 81"/>
          <p:cNvSpPr/>
          <p:nvPr/>
        </p:nvSpPr>
        <p:spPr>
          <a:xfrm>
            <a:off x="3630168" y="358444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곁들임</a:t>
            </a:r>
            <a:endParaRPr lang="en-US" sz="1150" dirty="0"/>
          </a:p>
        </p:txBody>
      </p:sp>
      <p:sp>
        <p:nvSpPr>
          <p:cNvPr id="86" name="Shape 82"/>
          <p:cNvSpPr/>
          <p:nvPr/>
        </p:nvSpPr>
        <p:spPr>
          <a:xfrm>
            <a:off x="3538728" y="389534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3"/>
          <p:cNvSpPr/>
          <p:nvPr/>
        </p:nvSpPr>
        <p:spPr>
          <a:xfrm>
            <a:off x="3630168" y="389534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매콤제육덮밥</a:t>
            </a:r>
            <a:endParaRPr lang="en-US" sz="950" dirty="0"/>
          </a:p>
        </p:txBody>
      </p:sp>
      <p:sp>
        <p:nvSpPr>
          <p:cNvPr id="88" name="Text 84"/>
          <p:cNvSpPr/>
          <p:nvPr/>
        </p:nvSpPr>
        <p:spPr>
          <a:xfrm>
            <a:off x="5733288" y="389534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4,800원</a:t>
            </a:r>
            <a:endParaRPr lang="en-US" sz="950" dirty="0"/>
          </a:p>
        </p:txBody>
      </p:sp>
      <p:sp>
        <p:nvSpPr>
          <p:cNvPr id="89" name="Shape 85"/>
          <p:cNvSpPr/>
          <p:nvPr/>
        </p:nvSpPr>
        <p:spPr>
          <a:xfrm>
            <a:off x="3538728" y="4142232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90" name="Text 86"/>
          <p:cNvSpPr/>
          <p:nvPr/>
        </p:nvSpPr>
        <p:spPr>
          <a:xfrm>
            <a:off x="3630168" y="414223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파닭마요덮밥</a:t>
            </a:r>
            <a:endParaRPr lang="en-US" sz="950" dirty="0"/>
          </a:p>
        </p:txBody>
      </p:sp>
      <p:sp>
        <p:nvSpPr>
          <p:cNvPr id="91" name="Text 87"/>
          <p:cNvSpPr/>
          <p:nvPr/>
        </p:nvSpPr>
        <p:spPr>
          <a:xfrm>
            <a:off x="5733288" y="414223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4,800원</a:t>
            </a:r>
            <a:endParaRPr lang="en-US" sz="950" dirty="0"/>
          </a:p>
        </p:txBody>
      </p:sp>
      <p:sp>
        <p:nvSpPr>
          <p:cNvPr id="92" name="Shape 88"/>
          <p:cNvSpPr/>
          <p:nvPr/>
        </p:nvSpPr>
        <p:spPr>
          <a:xfrm>
            <a:off x="3538728" y="4389120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89"/>
          <p:cNvSpPr/>
          <p:nvPr/>
        </p:nvSpPr>
        <p:spPr>
          <a:xfrm>
            <a:off x="3630168" y="43891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미니돈까스</a:t>
            </a:r>
            <a:endParaRPr lang="en-US" sz="950" dirty="0"/>
          </a:p>
        </p:txBody>
      </p:sp>
      <p:sp>
        <p:nvSpPr>
          <p:cNvPr id="94" name="Text 90"/>
          <p:cNvSpPr/>
          <p:nvPr/>
        </p:nvSpPr>
        <p:spPr>
          <a:xfrm>
            <a:off x="5733288" y="438912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95" name="Shape 91"/>
          <p:cNvSpPr/>
          <p:nvPr/>
        </p:nvSpPr>
        <p:spPr>
          <a:xfrm>
            <a:off x="3538728" y="4636008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96" name="Text 92"/>
          <p:cNvSpPr/>
          <p:nvPr/>
        </p:nvSpPr>
        <p:spPr>
          <a:xfrm>
            <a:off x="3630168" y="463600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미니치즈돈까스</a:t>
            </a:r>
            <a:endParaRPr lang="en-US" sz="950" dirty="0"/>
          </a:p>
        </p:txBody>
      </p:sp>
      <p:sp>
        <p:nvSpPr>
          <p:cNvPr id="97" name="Text 93"/>
          <p:cNvSpPr/>
          <p:nvPr/>
        </p:nvSpPr>
        <p:spPr>
          <a:xfrm>
            <a:off x="5733288" y="463600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4,800원</a:t>
            </a:r>
            <a:endParaRPr lang="en-US" sz="950" dirty="0"/>
          </a:p>
        </p:txBody>
      </p:sp>
      <p:sp>
        <p:nvSpPr>
          <p:cNvPr id="98" name="Shape 94"/>
          <p:cNvSpPr/>
          <p:nvPr/>
        </p:nvSpPr>
        <p:spPr>
          <a:xfrm>
            <a:off x="3538728" y="4882896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5"/>
          <p:cNvSpPr/>
          <p:nvPr/>
        </p:nvSpPr>
        <p:spPr>
          <a:xfrm>
            <a:off x="3630168" y="488289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튀김만두</a:t>
            </a:r>
            <a:endParaRPr lang="en-US" sz="950" dirty="0"/>
          </a:p>
        </p:txBody>
      </p:sp>
      <p:sp>
        <p:nvSpPr>
          <p:cNvPr id="100" name="Text 96"/>
          <p:cNvSpPr/>
          <p:nvPr/>
        </p:nvSpPr>
        <p:spPr>
          <a:xfrm>
            <a:off x="5733288" y="488289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01" name="Shape 97"/>
          <p:cNvSpPr/>
          <p:nvPr/>
        </p:nvSpPr>
        <p:spPr>
          <a:xfrm>
            <a:off x="3538728" y="5129784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02" name="Text 98"/>
          <p:cNvSpPr/>
          <p:nvPr/>
        </p:nvSpPr>
        <p:spPr>
          <a:xfrm>
            <a:off x="3630168" y="512978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꼬맹이물만두</a:t>
            </a:r>
            <a:endParaRPr lang="en-US" sz="950" dirty="0"/>
          </a:p>
        </p:txBody>
      </p:sp>
      <p:sp>
        <p:nvSpPr>
          <p:cNvPr id="103" name="Text 99"/>
          <p:cNvSpPr/>
          <p:nvPr/>
        </p:nvSpPr>
        <p:spPr>
          <a:xfrm>
            <a:off x="5733288" y="512978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04" name="Shape 100"/>
          <p:cNvSpPr/>
          <p:nvPr/>
        </p:nvSpPr>
        <p:spPr>
          <a:xfrm>
            <a:off x="3538728" y="5376672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1"/>
          <p:cNvSpPr/>
          <p:nvPr/>
        </p:nvSpPr>
        <p:spPr>
          <a:xfrm>
            <a:off x="3630168" y="537667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팝콘군만두</a:t>
            </a:r>
            <a:endParaRPr lang="en-US" sz="950" dirty="0"/>
          </a:p>
        </p:txBody>
      </p:sp>
      <p:sp>
        <p:nvSpPr>
          <p:cNvPr id="106" name="Text 102"/>
          <p:cNvSpPr/>
          <p:nvPr/>
        </p:nvSpPr>
        <p:spPr>
          <a:xfrm>
            <a:off x="5733288" y="537667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07" name="Shape 103"/>
          <p:cNvSpPr/>
          <p:nvPr/>
        </p:nvSpPr>
        <p:spPr>
          <a:xfrm>
            <a:off x="3538728" y="5623560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08" name="Text 104"/>
          <p:cNvSpPr/>
          <p:nvPr/>
        </p:nvSpPr>
        <p:spPr>
          <a:xfrm>
            <a:off x="3630168" y="562356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고기찐만두</a:t>
            </a:r>
            <a:endParaRPr lang="en-US" sz="950" dirty="0"/>
          </a:p>
        </p:txBody>
      </p:sp>
      <p:sp>
        <p:nvSpPr>
          <p:cNvPr id="109" name="Text 105"/>
          <p:cNvSpPr/>
          <p:nvPr/>
        </p:nvSpPr>
        <p:spPr>
          <a:xfrm>
            <a:off x="5733288" y="562356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10" name="Shape 106"/>
          <p:cNvSpPr/>
          <p:nvPr/>
        </p:nvSpPr>
        <p:spPr>
          <a:xfrm>
            <a:off x="3538728" y="5870448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7"/>
          <p:cNvSpPr/>
          <p:nvPr/>
        </p:nvSpPr>
        <p:spPr>
          <a:xfrm>
            <a:off x="3630168" y="587044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계란후라이밥</a:t>
            </a:r>
            <a:endParaRPr lang="en-US" sz="950" dirty="0"/>
          </a:p>
        </p:txBody>
      </p:sp>
      <p:sp>
        <p:nvSpPr>
          <p:cNvPr id="112" name="Text 108"/>
          <p:cNvSpPr/>
          <p:nvPr/>
        </p:nvSpPr>
        <p:spPr>
          <a:xfrm>
            <a:off x="5733288" y="587044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2,800원</a:t>
            </a:r>
            <a:endParaRPr lang="en-US" sz="950" dirty="0"/>
          </a:p>
        </p:txBody>
      </p:sp>
      <p:sp>
        <p:nvSpPr>
          <p:cNvPr id="113" name="Shape 109"/>
          <p:cNvSpPr/>
          <p:nvPr/>
        </p:nvSpPr>
        <p:spPr>
          <a:xfrm>
            <a:off x="3538728" y="6117336"/>
            <a:ext cx="320040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14" name="Text 110"/>
          <p:cNvSpPr/>
          <p:nvPr/>
        </p:nvSpPr>
        <p:spPr>
          <a:xfrm>
            <a:off x="3630168" y="611733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직화불고기</a:t>
            </a:r>
            <a:endParaRPr lang="en-US" sz="950" dirty="0"/>
          </a:p>
        </p:txBody>
      </p:sp>
      <p:sp>
        <p:nvSpPr>
          <p:cNvPr id="115" name="Text 111"/>
          <p:cNvSpPr/>
          <p:nvPr/>
        </p:nvSpPr>
        <p:spPr>
          <a:xfrm>
            <a:off x="5733288" y="611733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16" name="Shape 112"/>
          <p:cNvSpPr/>
          <p:nvPr/>
        </p:nvSpPr>
        <p:spPr>
          <a:xfrm>
            <a:off x="3538728" y="636422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3"/>
          <p:cNvSpPr/>
          <p:nvPr/>
        </p:nvSpPr>
        <p:spPr>
          <a:xfrm>
            <a:off x="3630168" y="636422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공기밥</a:t>
            </a:r>
            <a:endParaRPr lang="en-US" sz="950" dirty="0"/>
          </a:p>
        </p:txBody>
      </p:sp>
      <p:sp>
        <p:nvSpPr>
          <p:cNvPr id="118" name="Text 114"/>
          <p:cNvSpPr/>
          <p:nvPr/>
        </p:nvSpPr>
        <p:spPr>
          <a:xfrm>
            <a:off x="5733288" y="636422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1,000원</a:t>
            </a:r>
            <a:endParaRPr lang="en-US" sz="950" dirty="0"/>
          </a:p>
        </p:txBody>
      </p:sp>
      <p:sp>
        <p:nvSpPr>
          <p:cNvPr id="119" name="Shape 115"/>
          <p:cNvSpPr/>
          <p:nvPr/>
        </p:nvSpPr>
        <p:spPr>
          <a:xfrm>
            <a:off x="228600" y="5504688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20" name="Text 116"/>
          <p:cNvSpPr/>
          <p:nvPr/>
        </p:nvSpPr>
        <p:spPr>
          <a:xfrm>
            <a:off x="320040" y="550468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음료수</a:t>
            </a:r>
            <a:endParaRPr lang="en-US" sz="1150" dirty="0"/>
          </a:p>
        </p:txBody>
      </p:sp>
      <p:sp>
        <p:nvSpPr>
          <p:cNvPr id="121" name="Shape 117"/>
          <p:cNvSpPr/>
          <p:nvPr/>
        </p:nvSpPr>
        <p:spPr>
          <a:xfrm>
            <a:off x="228600" y="581558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8"/>
          <p:cNvSpPr/>
          <p:nvPr/>
        </p:nvSpPr>
        <p:spPr>
          <a:xfrm>
            <a:off x="320040" y="581558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음료수</a:t>
            </a:r>
            <a:endParaRPr lang="en-US" sz="950" dirty="0"/>
          </a:p>
        </p:txBody>
      </p:sp>
      <p:sp>
        <p:nvSpPr>
          <p:cNvPr id="123" name="Text 119"/>
          <p:cNvSpPr/>
          <p:nvPr/>
        </p:nvSpPr>
        <p:spPr>
          <a:xfrm>
            <a:off x="2423160" y="581558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2,000원</a:t>
            </a:r>
            <a:endParaRPr lang="en-US" sz="950" dirty="0"/>
          </a:p>
        </p:txBody>
      </p:sp>
      <p:sp>
        <p:nvSpPr>
          <p:cNvPr id="124" name="Shape 120"/>
          <p:cNvSpPr/>
          <p:nvPr/>
        </p:nvSpPr>
        <p:spPr>
          <a:xfrm>
            <a:off x="228600" y="6190488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25" name="Text 121"/>
          <p:cNvSpPr/>
          <p:nvPr/>
        </p:nvSpPr>
        <p:spPr>
          <a:xfrm>
            <a:off x="320040" y="619048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아침메뉴</a:t>
            </a:r>
            <a:endParaRPr lang="en-US" sz="1150" dirty="0"/>
          </a:p>
        </p:txBody>
      </p:sp>
      <p:sp>
        <p:nvSpPr>
          <p:cNvPr id="126" name="Shape 122"/>
          <p:cNvSpPr/>
          <p:nvPr/>
        </p:nvSpPr>
        <p:spPr>
          <a:xfrm>
            <a:off x="228600" y="6501384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3"/>
          <p:cNvSpPr/>
          <p:nvPr/>
        </p:nvSpPr>
        <p:spPr>
          <a:xfrm>
            <a:off x="320040" y="650138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</a:rPr>
              <a:t>아침愛국밥</a:t>
            </a:r>
            <a:endParaRPr lang="en-US" sz="950" dirty="0"/>
          </a:p>
        </p:txBody>
      </p:sp>
      <p:sp>
        <p:nvSpPr>
          <p:cNvPr id="128" name="Text 124"/>
          <p:cNvSpPr/>
          <p:nvPr/>
        </p:nvSpPr>
        <p:spPr>
          <a:xfrm>
            <a:off x="2423160" y="650138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3,800원</a:t>
            </a:r>
            <a:endParaRPr lang="en-US" sz="950" dirty="0"/>
          </a:p>
        </p:txBody>
      </p:sp>
      <p:sp>
        <p:nvSpPr>
          <p:cNvPr id="129" name="Shape 120">
            <a:extLst>
              <a:ext uri="{FF2B5EF4-FFF2-40B4-BE49-F238E27FC236}">
                <a16:creationId xmlns:a16="http://schemas.microsoft.com/office/drawing/2014/main" id="{B28EB192-D6EB-B572-A570-7D5FC0C9039F}"/>
              </a:ext>
            </a:extLst>
          </p:cNvPr>
          <p:cNvSpPr/>
          <p:nvPr/>
        </p:nvSpPr>
        <p:spPr>
          <a:xfrm>
            <a:off x="233553" y="6874383"/>
            <a:ext cx="3200400" cy="310896"/>
          </a:xfrm>
          <a:prstGeom prst="rect">
            <a:avLst/>
          </a:prstGeom>
          <a:solidFill>
            <a:srgbClr val="835A3C"/>
          </a:solidFill>
          <a:ln/>
        </p:spPr>
        <p:txBody>
          <a:bodyPr/>
          <a:lstStyle/>
          <a:p>
            <a:r>
              <a:rPr lang="ko-KR" alt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스페셜</a:t>
            </a:r>
            <a:r>
              <a:rPr lang="en-US" altLang="ko-KR" sz="115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메뉴</a:t>
            </a:r>
            <a:endParaRPr lang="ko-KR" altLang="en-US" sz="1150" dirty="0"/>
          </a:p>
        </p:txBody>
      </p:sp>
      <p:sp>
        <p:nvSpPr>
          <p:cNvPr id="130" name="Shape 122">
            <a:extLst>
              <a:ext uri="{FF2B5EF4-FFF2-40B4-BE49-F238E27FC236}">
                <a16:creationId xmlns:a16="http://schemas.microsoft.com/office/drawing/2014/main" id="{DC84DA34-6FA9-C62C-E6E3-4457E2025F58}"/>
              </a:ext>
            </a:extLst>
          </p:cNvPr>
          <p:cNvSpPr/>
          <p:nvPr/>
        </p:nvSpPr>
        <p:spPr>
          <a:xfrm>
            <a:off x="233553" y="7185279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ko-KR" altLang="en-US" sz="1150" dirty="0" err="1">
                <a:latin typeface="Arial Black" panose="020B0A04020102020204" pitchFamily="34" charset="0"/>
              </a:rPr>
              <a:t>김치찌개돈까스</a:t>
            </a:r>
            <a:endParaRPr lang="ko-KR" altLang="en-US" sz="1150" dirty="0">
              <a:latin typeface="Arial Black" panose="020B0A04020102020204" pitchFamily="34" charset="0"/>
            </a:endParaRPr>
          </a:p>
        </p:txBody>
      </p:sp>
      <p:sp>
        <p:nvSpPr>
          <p:cNvPr id="133" name="Text 124">
            <a:extLst>
              <a:ext uri="{FF2B5EF4-FFF2-40B4-BE49-F238E27FC236}">
                <a16:creationId xmlns:a16="http://schemas.microsoft.com/office/drawing/2014/main" id="{0F4C9D28-B292-01D6-0E53-5EC38F199905}"/>
              </a:ext>
            </a:extLst>
          </p:cNvPr>
          <p:cNvSpPr/>
          <p:nvPr/>
        </p:nvSpPr>
        <p:spPr>
          <a:xfrm>
            <a:off x="2423160" y="723290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5A3C"/>
                </a:solidFill>
              </a:rPr>
              <a:t>7,800원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재고 조사표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List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재고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182880" y="1143000"/>
            <a:ext cx="3154680" cy="292608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" y="1143000"/>
            <a:ext cx="17350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품목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886407" y="1143000"/>
            <a:ext cx="82021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BDF"/>
                </a:solidFill>
              </a:rPr>
              <a:t>규격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2643530" y="1143000"/>
            <a:ext cx="6940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단가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82880" y="145389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228600" y="145389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평양냉면/냉동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886407" y="145389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(200g*5개)1…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2643530" y="145389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33,550원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182880" y="1700784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1" name="Text 17"/>
          <p:cNvSpPr/>
          <p:nvPr/>
        </p:nvSpPr>
        <p:spPr>
          <a:xfrm>
            <a:off x="228600" y="170078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886407" y="170078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700g/개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643530" y="170078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7,260원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82880" y="1947672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228600" y="194767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슬라이스냉동유부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886407" y="194767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1kg/개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2643530" y="194767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9,460원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82880" y="2194560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5"/>
          <p:cNvSpPr/>
          <p:nvPr/>
        </p:nvSpPr>
        <p:spPr>
          <a:xfrm>
            <a:off x="228600" y="219456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미니꼬치어묵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886407" y="219456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(봉/25g*10)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2643530" y="219456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3,520원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182880" y="2441448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9"/>
          <p:cNvSpPr/>
          <p:nvPr/>
        </p:nvSpPr>
        <p:spPr>
          <a:xfrm>
            <a:off x="228600" y="244144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생칼면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886407" y="244144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1box/6봉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2643530" y="244144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18,150원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182880" y="2688336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7" name="Text 33"/>
          <p:cNvSpPr/>
          <p:nvPr/>
        </p:nvSpPr>
        <p:spPr>
          <a:xfrm>
            <a:off x="228600" y="268833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등심돈까스100(파랑)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886407" y="268833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(100g*10)/…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2643530" y="268833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11,770원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82880" y="2935224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293522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자연치즈돈까스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886407" y="293522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(110g*16개)…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643530" y="293522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23,826원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182880" y="3182112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5" name="Text 41"/>
          <p:cNvSpPr/>
          <p:nvPr/>
        </p:nvSpPr>
        <p:spPr>
          <a:xfrm>
            <a:off x="228600" y="318211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물만두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886407" y="318211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팩/1kg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2643530" y="318211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6,604원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182880" y="3429000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5"/>
          <p:cNvSpPr/>
          <p:nvPr/>
        </p:nvSpPr>
        <p:spPr>
          <a:xfrm>
            <a:off x="228600" y="342900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우삼겹양지(1kg)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886407" y="342900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1kg/개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2643530" y="342900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15,900원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182880" y="3675888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Text 49"/>
          <p:cNvSpPr/>
          <p:nvPr/>
        </p:nvSpPr>
        <p:spPr>
          <a:xfrm>
            <a:off x="228600" y="367588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계란후라이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886407" y="367588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봉/540g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2643530" y="367588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5,830원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182880" y="392277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3"/>
          <p:cNvSpPr/>
          <p:nvPr/>
        </p:nvSpPr>
        <p:spPr>
          <a:xfrm>
            <a:off x="228600" y="392277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(가성)양념제육 푸른누리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1886407" y="392277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1kg/팩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2643530" y="392277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8,470원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182880" y="4169664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1" name="Text 57"/>
          <p:cNvSpPr/>
          <p:nvPr/>
        </p:nvSpPr>
        <p:spPr>
          <a:xfrm>
            <a:off x="228600" y="416966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치킨다리살스테이크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1886407" y="416966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팩/180g*5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2643530" y="416966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11,550원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182880" y="4416552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1"/>
          <p:cNvSpPr/>
          <p:nvPr/>
        </p:nvSpPr>
        <p:spPr>
          <a:xfrm>
            <a:off x="228600" y="441655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hbs소뽈살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1886407" y="441655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팩/2KG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2643530" y="441655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66,000원</a:t>
            </a:r>
            <a:endParaRPr lang="en-US" sz="800" dirty="0"/>
          </a:p>
        </p:txBody>
      </p:sp>
      <p:sp>
        <p:nvSpPr>
          <p:cNvPr id="68" name="Shape 64"/>
          <p:cNvSpPr/>
          <p:nvPr/>
        </p:nvSpPr>
        <p:spPr>
          <a:xfrm>
            <a:off x="182880" y="4663440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9" name="Text 65"/>
          <p:cNvSpPr/>
          <p:nvPr/>
        </p:nvSpPr>
        <p:spPr>
          <a:xfrm>
            <a:off x="228600" y="466344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왕교자만두/일본풍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1886407" y="466344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1kg/봉</a:t>
            </a:r>
            <a:endParaRPr lang="en-US" sz="750" dirty="0"/>
          </a:p>
        </p:txBody>
      </p:sp>
      <p:sp>
        <p:nvSpPr>
          <p:cNvPr id="71" name="Text 67"/>
          <p:cNvSpPr/>
          <p:nvPr/>
        </p:nvSpPr>
        <p:spPr>
          <a:xfrm>
            <a:off x="2643530" y="466344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8,500원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182880" y="4910328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69"/>
          <p:cNvSpPr/>
          <p:nvPr/>
        </p:nvSpPr>
        <p:spPr>
          <a:xfrm>
            <a:off x="228600" y="491032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생면1.0/빨강</a:t>
            </a:r>
            <a:endParaRPr lang="en-US" sz="800" dirty="0"/>
          </a:p>
        </p:txBody>
      </p:sp>
      <p:sp>
        <p:nvSpPr>
          <p:cNvPr id="74" name="Text 70"/>
          <p:cNvSpPr/>
          <p:nvPr/>
        </p:nvSpPr>
        <p:spPr>
          <a:xfrm>
            <a:off x="1886407" y="491032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(150g*24개)…</a:t>
            </a:r>
            <a:endParaRPr lang="en-US" sz="750" dirty="0"/>
          </a:p>
        </p:txBody>
      </p:sp>
      <p:sp>
        <p:nvSpPr>
          <p:cNvPr id="75" name="Text 71"/>
          <p:cNvSpPr/>
          <p:nvPr/>
        </p:nvSpPr>
        <p:spPr>
          <a:xfrm>
            <a:off x="2643530" y="491032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29,040원</a:t>
            </a:r>
            <a:endParaRPr lang="en-US" sz="800" dirty="0"/>
          </a:p>
        </p:txBody>
      </p:sp>
      <p:sp>
        <p:nvSpPr>
          <p:cNvPr id="76" name="Shape 72"/>
          <p:cNvSpPr/>
          <p:nvPr/>
        </p:nvSpPr>
        <p:spPr>
          <a:xfrm>
            <a:off x="182880" y="5157216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77" name="Text 73"/>
          <p:cNvSpPr/>
          <p:nvPr/>
        </p:nvSpPr>
        <p:spPr>
          <a:xfrm>
            <a:off x="228600" y="515721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78" name="Text 74"/>
          <p:cNvSpPr/>
          <p:nvPr/>
        </p:nvSpPr>
        <p:spPr>
          <a:xfrm>
            <a:off x="1886407" y="515721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(1kg/개)신영</a:t>
            </a:r>
            <a:endParaRPr lang="en-US" sz="750" dirty="0"/>
          </a:p>
        </p:txBody>
      </p:sp>
      <p:sp>
        <p:nvSpPr>
          <p:cNvPr id="79" name="Text 75"/>
          <p:cNvSpPr/>
          <p:nvPr/>
        </p:nvSpPr>
        <p:spPr>
          <a:xfrm>
            <a:off x="2643530" y="515721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11,803원</a:t>
            </a:r>
            <a:endParaRPr lang="en-US" sz="800" dirty="0"/>
          </a:p>
        </p:txBody>
      </p:sp>
      <p:sp>
        <p:nvSpPr>
          <p:cNvPr id="80" name="Shape 76"/>
          <p:cNvSpPr/>
          <p:nvPr/>
        </p:nvSpPr>
        <p:spPr>
          <a:xfrm>
            <a:off x="182880" y="5404104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7"/>
          <p:cNvSpPr/>
          <p:nvPr/>
        </p:nvSpPr>
        <p:spPr>
          <a:xfrm>
            <a:off x="228600" y="540410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얼큰다데기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1886407" y="540410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3kg/개</a:t>
            </a:r>
            <a:endParaRPr lang="en-US" sz="750" dirty="0"/>
          </a:p>
        </p:txBody>
      </p:sp>
      <p:sp>
        <p:nvSpPr>
          <p:cNvPr id="83" name="Text 79"/>
          <p:cNvSpPr/>
          <p:nvPr/>
        </p:nvSpPr>
        <p:spPr>
          <a:xfrm>
            <a:off x="2643530" y="540410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23,100원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182880" y="5650992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85" name="Text 81"/>
          <p:cNvSpPr/>
          <p:nvPr/>
        </p:nvSpPr>
        <p:spPr>
          <a:xfrm>
            <a:off x="228600" y="565099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국수나무비빔장</a:t>
            </a:r>
            <a:endParaRPr lang="en-US" sz="800" dirty="0"/>
          </a:p>
        </p:txBody>
      </p:sp>
      <p:sp>
        <p:nvSpPr>
          <p:cNvPr id="86" name="Text 82"/>
          <p:cNvSpPr/>
          <p:nvPr/>
        </p:nvSpPr>
        <p:spPr>
          <a:xfrm>
            <a:off x="1886407" y="565099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2kg/개</a:t>
            </a:r>
            <a:endParaRPr lang="en-US" sz="750" dirty="0"/>
          </a:p>
        </p:txBody>
      </p:sp>
      <p:sp>
        <p:nvSpPr>
          <p:cNvPr id="87" name="Text 83"/>
          <p:cNvSpPr/>
          <p:nvPr/>
        </p:nvSpPr>
        <p:spPr>
          <a:xfrm>
            <a:off x="2643530" y="565099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11,495원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182880" y="5897880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5"/>
          <p:cNvSpPr/>
          <p:nvPr/>
        </p:nvSpPr>
        <p:spPr>
          <a:xfrm>
            <a:off x="228600" y="589788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돈까스소스플러스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1886407" y="589788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2kg/개</a:t>
            </a:r>
            <a:endParaRPr lang="en-US" sz="750" dirty="0"/>
          </a:p>
        </p:txBody>
      </p:sp>
      <p:sp>
        <p:nvSpPr>
          <p:cNvPr id="91" name="Text 87"/>
          <p:cNvSpPr/>
          <p:nvPr/>
        </p:nvSpPr>
        <p:spPr>
          <a:xfrm>
            <a:off x="2643530" y="589788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7,755원</a:t>
            </a:r>
            <a:endParaRPr lang="en-US" sz="800" dirty="0"/>
          </a:p>
        </p:txBody>
      </p:sp>
      <p:sp>
        <p:nvSpPr>
          <p:cNvPr id="92" name="Shape 88"/>
          <p:cNvSpPr/>
          <p:nvPr/>
        </p:nvSpPr>
        <p:spPr>
          <a:xfrm>
            <a:off x="182880" y="6144768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93" name="Text 89"/>
          <p:cNvSpPr/>
          <p:nvPr/>
        </p:nvSpPr>
        <p:spPr>
          <a:xfrm>
            <a:off x="228600" y="614476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매콤덮밥소스</a:t>
            </a:r>
            <a:endParaRPr lang="en-US" sz="800" dirty="0"/>
          </a:p>
        </p:txBody>
      </p:sp>
      <p:sp>
        <p:nvSpPr>
          <p:cNvPr id="94" name="Text 90"/>
          <p:cNvSpPr/>
          <p:nvPr/>
        </p:nvSpPr>
        <p:spPr>
          <a:xfrm>
            <a:off x="1886407" y="614476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2kg/팩</a:t>
            </a:r>
            <a:endParaRPr lang="en-US" sz="750" dirty="0"/>
          </a:p>
        </p:txBody>
      </p:sp>
      <p:sp>
        <p:nvSpPr>
          <p:cNvPr id="95" name="Text 91"/>
          <p:cNvSpPr/>
          <p:nvPr/>
        </p:nvSpPr>
        <p:spPr>
          <a:xfrm>
            <a:off x="2643530" y="614476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13,200원</a:t>
            </a:r>
            <a:endParaRPr lang="en-US" sz="800" dirty="0"/>
          </a:p>
        </p:txBody>
      </p:sp>
      <p:sp>
        <p:nvSpPr>
          <p:cNvPr id="96" name="Shape 92"/>
          <p:cNvSpPr/>
          <p:nvPr/>
        </p:nvSpPr>
        <p:spPr>
          <a:xfrm>
            <a:off x="182880" y="639165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3"/>
          <p:cNvSpPr/>
          <p:nvPr/>
        </p:nvSpPr>
        <p:spPr>
          <a:xfrm>
            <a:off x="228600" y="639165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열무물김치</a:t>
            </a:r>
            <a:endParaRPr lang="en-US" sz="800" dirty="0"/>
          </a:p>
        </p:txBody>
      </p:sp>
      <p:sp>
        <p:nvSpPr>
          <p:cNvPr id="98" name="Text 94"/>
          <p:cNvSpPr/>
          <p:nvPr/>
        </p:nvSpPr>
        <p:spPr>
          <a:xfrm>
            <a:off x="1886407" y="639165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(500g*20개)…</a:t>
            </a:r>
            <a:endParaRPr lang="en-US" sz="750" dirty="0"/>
          </a:p>
        </p:txBody>
      </p:sp>
      <p:sp>
        <p:nvSpPr>
          <p:cNvPr id="99" name="Text 95"/>
          <p:cNvSpPr/>
          <p:nvPr/>
        </p:nvSpPr>
        <p:spPr>
          <a:xfrm>
            <a:off x="2643530" y="639165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29,000원</a:t>
            </a:r>
            <a:endParaRPr lang="en-US" sz="800" dirty="0"/>
          </a:p>
        </p:txBody>
      </p:sp>
      <p:sp>
        <p:nvSpPr>
          <p:cNvPr id="100" name="Shape 96"/>
          <p:cNvSpPr/>
          <p:nvPr/>
        </p:nvSpPr>
        <p:spPr>
          <a:xfrm>
            <a:off x="182880" y="6638544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01" name="Text 97"/>
          <p:cNvSpPr/>
          <p:nvPr/>
        </p:nvSpPr>
        <p:spPr>
          <a:xfrm>
            <a:off x="228600" y="663854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무김치(3kg)</a:t>
            </a:r>
            <a:endParaRPr lang="en-US" sz="800" dirty="0"/>
          </a:p>
        </p:txBody>
      </p:sp>
      <p:sp>
        <p:nvSpPr>
          <p:cNvPr id="102" name="Text 98"/>
          <p:cNvSpPr/>
          <p:nvPr/>
        </p:nvSpPr>
        <p:spPr>
          <a:xfrm>
            <a:off x="1886407" y="663854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5kg/1팩</a:t>
            </a:r>
            <a:endParaRPr lang="en-US" sz="750" dirty="0"/>
          </a:p>
        </p:txBody>
      </p:sp>
      <p:sp>
        <p:nvSpPr>
          <p:cNvPr id="103" name="Text 99"/>
          <p:cNvSpPr/>
          <p:nvPr/>
        </p:nvSpPr>
        <p:spPr>
          <a:xfrm>
            <a:off x="2643530" y="663854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16,500원</a:t>
            </a:r>
            <a:endParaRPr lang="en-US" sz="800" dirty="0"/>
          </a:p>
        </p:txBody>
      </p:sp>
      <p:sp>
        <p:nvSpPr>
          <p:cNvPr id="104" name="Shape 100"/>
          <p:cNvSpPr/>
          <p:nvPr/>
        </p:nvSpPr>
        <p:spPr>
          <a:xfrm>
            <a:off x="182880" y="6885432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1"/>
          <p:cNvSpPr/>
          <p:nvPr/>
        </p:nvSpPr>
        <p:spPr>
          <a:xfrm>
            <a:off x="228600" y="688543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강동다진김치</a:t>
            </a:r>
            <a:endParaRPr lang="en-US" sz="800" dirty="0"/>
          </a:p>
        </p:txBody>
      </p:sp>
      <p:sp>
        <p:nvSpPr>
          <p:cNvPr id="106" name="Text 102"/>
          <p:cNvSpPr/>
          <p:nvPr/>
        </p:nvSpPr>
        <p:spPr>
          <a:xfrm>
            <a:off x="1886407" y="688543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박스/10kg</a:t>
            </a:r>
            <a:endParaRPr lang="en-US" sz="750" dirty="0"/>
          </a:p>
        </p:txBody>
      </p:sp>
      <p:sp>
        <p:nvSpPr>
          <p:cNvPr id="107" name="Text 103"/>
          <p:cNvSpPr/>
          <p:nvPr/>
        </p:nvSpPr>
        <p:spPr>
          <a:xfrm>
            <a:off x="2643530" y="688543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17,500원</a:t>
            </a:r>
            <a:endParaRPr lang="en-US" sz="800" dirty="0"/>
          </a:p>
        </p:txBody>
      </p:sp>
      <p:sp>
        <p:nvSpPr>
          <p:cNvPr id="108" name="Shape 104"/>
          <p:cNvSpPr/>
          <p:nvPr/>
        </p:nvSpPr>
        <p:spPr>
          <a:xfrm>
            <a:off x="182880" y="7132320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09" name="Text 105"/>
          <p:cNvSpPr/>
          <p:nvPr/>
        </p:nvSpPr>
        <p:spPr>
          <a:xfrm>
            <a:off x="228600" y="713232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강동맛김치/노랑</a:t>
            </a:r>
            <a:endParaRPr lang="en-US" sz="800" dirty="0"/>
          </a:p>
        </p:txBody>
      </p:sp>
      <p:sp>
        <p:nvSpPr>
          <p:cNvPr id="110" name="Text 106"/>
          <p:cNvSpPr/>
          <p:nvPr/>
        </p:nvSpPr>
        <p:spPr>
          <a:xfrm>
            <a:off x="1886407" y="713232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(박스10kg)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2643530" y="713232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16,500원</a:t>
            </a:r>
            <a:endParaRPr lang="en-US" sz="800" dirty="0"/>
          </a:p>
        </p:txBody>
      </p:sp>
      <p:sp>
        <p:nvSpPr>
          <p:cNvPr id="112" name="Shape 108"/>
          <p:cNvSpPr/>
          <p:nvPr/>
        </p:nvSpPr>
        <p:spPr>
          <a:xfrm>
            <a:off x="182880" y="7379208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9"/>
          <p:cNvSpPr/>
          <p:nvPr/>
        </p:nvSpPr>
        <p:spPr>
          <a:xfrm>
            <a:off x="228600" y="737920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달걀(대란)</a:t>
            </a:r>
            <a:endParaRPr lang="en-US" sz="800" dirty="0"/>
          </a:p>
        </p:txBody>
      </p:sp>
      <p:sp>
        <p:nvSpPr>
          <p:cNvPr id="114" name="Text 110"/>
          <p:cNvSpPr/>
          <p:nvPr/>
        </p:nvSpPr>
        <p:spPr>
          <a:xfrm>
            <a:off x="1886407" y="737920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(30개*2팩)/박…</a:t>
            </a:r>
            <a:endParaRPr lang="en-US" sz="750" dirty="0"/>
          </a:p>
        </p:txBody>
      </p:sp>
      <p:sp>
        <p:nvSpPr>
          <p:cNvPr id="115" name="Text 111"/>
          <p:cNvSpPr/>
          <p:nvPr/>
        </p:nvSpPr>
        <p:spPr>
          <a:xfrm>
            <a:off x="2643530" y="737920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15,300원</a:t>
            </a:r>
            <a:endParaRPr lang="en-US" sz="800" dirty="0"/>
          </a:p>
        </p:txBody>
      </p:sp>
      <p:sp>
        <p:nvSpPr>
          <p:cNvPr id="116" name="Shape 112"/>
          <p:cNvSpPr/>
          <p:nvPr/>
        </p:nvSpPr>
        <p:spPr>
          <a:xfrm>
            <a:off x="182880" y="7626096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17" name="Text 113"/>
          <p:cNvSpPr/>
          <p:nvPr/>
        </p:nvSpPr>
        <p:spPr>
          <a:xfrm>
            <a:off x="228600" y="762609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1886407" y="762609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1kg/개</a:t>
            </a:r>
            <a:endParaRPr lang="en-US" sz="750" dirty="0"/>
          </a:p>
        </p:txBody>
      </p:sp>
      <p:sp>
        <p:nvSpPr>
          <p:cNvPr id="119" name="Text 115"/>
          <p:cNvSpPr/>
          <p:nvPr/>
        </p:nvSpPr>
        <p:spPr>
          <a:xfrm>
            <a:off x="2643530" y="762609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9,999원</a:t>
            </a:r>
            <a:endParaRPr lang="en-US" sz="800" dirty="0"/>
          </a:p>
        </p:txBody>
      </p:sp>
      <p:sp>
        <p:nvSpPr>
          <p:cNvPr id="120" name="Shape 116"/>
          <p:cNvSpPr/>
          <p:nvPr/>
        </p:nvSpPr>
        <p:spPr>
          <a:xfrm>
            <a:off x="182880" y="7872984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7"/>
          <p:cNvSpPr/>
          <p:nvPr/>
        </p:nvSpPr>
        <p:spPr>
          <a:xfrm>
            <a:off x="228600" y="787298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삼계탕분말</a:t>
            </a:r>
            <a:endParaRPr lang="en-US" sz="800" dirty="0"/>
          </a:p>
        </p:txBody>
      </p:sp>
      <p:sp>
        <p:nvSpPr>
          <p:cNvPr id="122" name="Text 118"/>
          <p:cNvSpPr/>
          <p:nvPr/>
        </p:nvSpPr>
        <p:spPr>
          <a:xfrm>
            <a:off x="1886407" y="787298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2kg/개</a:t>
            </a:r>
            <a:endParaRPr lang="en-US" sz="750" dirty="0"/>
          </a:p>
        </p:txBody>
      </p:sp>
      <p:sp>
        <p:nvSpPr>
          <p:cNvPr id="123" name="Text 119"/>
          <p:cNvSpPr/>
          <p:nvPr/>
        </p:nvSpPr>
        <p:spPr>
          <a:xfrm>
            <a:off x="2643530" y="787298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30,800원</a:t>
            </a:r>
            <a:endParaRPr lang="en-US" sz="800" dirty="0"/>
          </a:p>
        </p:txBody>
      </p:sp>
      <p:sp>
        <p:nvSpPr>
          <p:cNvPr id="124" name="Shape 120"/>
          <p:cNvSpPr/>
          <p:nvPr/>
        </p:nvSpPr>
        <p:spPr>
          <a:xfrm>
            <a:off x="182880" y="8119872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25" name="Text 121"/>
          <p:cNvSpPr/>
          <p:nvPr/>
        </p:nvSpPr>
        <p:spPr>
          <a:xfrm>
            <a:off x="228600" y="811987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</a:t>
            </a:r>
            <a:endParaRPr lang="en-US" sz="800" dirty="0"/>
          </a:p>
        </p:txBody>
      </p:sp>
      <p:sp>
        <p:nvSpPr>
          <p:cNvPr id="126" name="Text 122"/>
          <p:cNvSpPr/>
          <p:nvPr/>
        </p:nvSpPr>
        <p:spPr>
          <a:xfrm>
            <a:off x="1886407" y="811987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1kg/개</a:t>
            </a:r>
            <a:endParaRPr lang="en-US" sz="750" dirty="0"/>
          </a:p>
        </p:txBody>
      </p:sp>
      <p:sp>
        <p:nvSpPr>
          <p:cNvPr id="127" name="Text 123"/>
          <p:cNvSpPr/>
          <p:nvPr/>
        </p:nvSpPr>
        <p:spPr>
          <a:xfrm>
            <a:off x="2643530" y="811987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8,910원</a:t>
            </a:r>
            <a:endParaRPr lang="en-US" sz="800" dirty="0"/>
          </a:p>
        </p:txBody>
      </p:sp>
      <p:sp>
        <p:nvSpPr>
          <p:cNvPr id="128" name="Shape 124"/>
          <p:cNvSpPr/>
          <p:nvPr/>
        </p:nvSpPr>
        <p:spPr>
          <a:xfrm>
            <a:off x="182880" y="8366760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5"/>
          <p:cNvSpPr/>
          <p:nvPr/>
        </p:nvSpPr>
        <p:spPr>
          <a:xfrm>
            <a:off x="228600" y="836676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</a:t>
            </a:r>
            <a:endParaRPr lang="en-US" sz="800" dirty="0"/>
          </a:p>
        </p:txBody>
      </p:sp>
      <p:sp>
        <p:nvSpPr>
          <p:cNvPr id="130" name="Text 126"/>
          <p:cNvSpPr/>
          <p:nvPr/>
        </p:nvSpPr>
        <p:spPr>
          <a:xfrm>
            <a:off x="1886407" y="836676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400g/개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2643530" y="836676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11,000원</a:t>
            </a:r>
            <a:endParaRPr lang="en-US" sz="800" dirty="0"/>
          </a:p>
        </p:txBody>
      </p:sp>
      <p:sp>
        <p:nvSpPr>
          <p:cNvPr id="132" name="Shape 128"/>
          <p:cNvSpPr/>
          <p:nvPr/>
        </p:nvSpPr>
        <p:spPr>
          <a:xfrm>
            <a:off x="182880" y="8613648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33" name="Text 129"/>
          <p:cNvSpPr/>
          <p:nvPr/>
        </p:nvSpPr>
        <p:spPr>
          <a:xfrm>
            <a:off x="228600" y="861364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파슬리가루(봉/200g)</a:t>
            </a:r>
            <a:endParaRPr lang="en-US" sz="800" dirty="0"/>
          </a:p>
        </p:txBody>
      </p:sp>
      <p:sp>
        <p:nvSpPr>
          <p:cNvPr id="134" name="Text 130"/>
          <p:cNvSpPr/>
          <p:nvPr/>
        </p:nvSpPr>
        <p:spPr>
          <a:xfrm>
            <a:off x="1886407" y="861364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200g/개</a:t>
            </a:r>
            <a:endParaRPr lang="en-US" sz="750" dirty="0"/>
          </a:p>
        </p:txBody>
      </p:sp>
      <p:sp>
        <p:nvSpPr>
          <p:cNvPr id="135" name="Text 131"/>
          <p:cNvSpPr/>
          <p:nvPr/>
        </p:nvSpPr>
        <p:spPr>
          <a:xfrm>
            <a:off x="2643530" y="861364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5,440원</a:t>
            </a:r>
            <a:endParaRPr lang="en-US" sz="800" dirty="0"/>
          </a:p>
        </p:txBody>
      </p:sp>
      <p:sp>
        <p:nvSpPr>
          <p:cNvPr id="136" name="Shape 132"/>
          <p:cNvSpPr/>
          <p:nvPr/>
        </p:nvSpPr>
        <p:spPr>
          <a:xfrm>
            <a:off x="182880" y="886053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3"/>
          <p:cNvSpPr/>
          <p:nvPr/>
        </p:nvSpPr>
        <p:spPr>
          <a:xfrm>
            <a:off x="228600" y="886053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138" name="Text 134"/>
          <p:cNvSpPr/>
          <p:nvPr/>
        </p:nvSpPr>
        <p:spPr>
          <a:xfrm>
            <a:off x="1886407" y="886053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240g/개</a:t>
            </a:r>
            <a:endParaRPr lang="en-US" sz="750" dirty="0"/>
          </a:p>
        </p:txBody>
      </p:sp>
      <p:sp>
        <p:nvSpPr>
          <p:cNvPr id="139" name="Text 135"/>
          <p:cNvSpPr/>
          <p:nvPr/>
        </p:nvSpPr>
        <p:spPr>
          <a:xfrm>
            <a:off x="2643530" y="886053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4,862원</a:t>
            </a:r>
            <a:endParaRPr lang="en-US" sz="800" dirty="0"/>
          </a:p>
        </p:txBody>
      </p:sp>
      <p:sp>
        <p:nvSpPr>
          <p:cNvPr id="140" name="Shape 136"/>
          <p:cNvSpPr/>
          <p:nvPr/>
        </p:nvSpPr>
        <p:spPr>
          <a:xfrm>
            <a:off x="3520440" y="1143000"/>
            <a:ext cx="3154680" cy="292608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41" name="Text 137"/>
          <p:cNvSpPr/>
          <p:nvPr/>
        </p:nvSpPr>
        <p:spPr>
          <a:xfrm>
            <a:off x="3566160" y="1143000"/>
            <a:ext cx="17350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품목</a:t>
            </a:r>
            <a:endParaRPr lang="en-US" sz="850" dirty="0"/>
          </a:p>
        </p:txBody>
      </p:sp>
      <p:sp>
        <p:nvSpPr>
          <p:cNvPr id="142" name="Text 138"/>
          <p:cNvSpPr/>
          <p:nvPr/>
        </p:nvSpPr>
        <p:spPr>
          <a:xfrm>
            <a:off x="5223967" y="1143000"/>
            <a:ext cx="82021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BDF"/>
                </a:solidFill>
              </a:rPr>
              <a:t>규격</a:t>
            </a:r>
            <a:endParaRPr lang="en-US" sz="850" dirty="0"/>
          </a:p>
        </p:txBody>
      </p:sp>
      <p:sp>
        <p:nvSpPr>
          <p:cNvPr id="143" name="Text 139"/>
          <p:cNvSpPr/>
          <p:nvPr/>
        </p:nvSpPr>
        <p:spPr>
          <a:xfrm>
            <a:off x="5981090" y="1143000"/>
            <a:ext cx="6940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단가</a:t>
            </a:r>
            <a:endParaRPr lang="en-US" sz="850" dirty="0"/>
          </a:p>
        </p:txBody>
      </p:sp>
      <p:sp>
        <p:nvSpPr>
          <p:cNvPr id="144" name="Shape 140"/>
          <p:cNvSpPr/>
          <p:nvPr/>
        </p:nvSpPr>
        <p:spPr>
          <a:xfrm>
            <a:off x="3520440" y="145389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1"/>
          <p:cNvSpPr/>
          <p:nvPr/>
        </p:nvSpPr>
        <p:spPr>
          <a:xfrm>
            <a:off x="3566160" y="145389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식초(1회용)</a:t>
            </a:r>
            <a:endParaRPr lang="en-US" sz="800" dirty="0"/>
          </a:p>
        </p:txBody>
      </p:sp>
      <p:sp>
        <p:nvSpPr>
          <p:cNvPr id="146" name="Text 142"/>
          <p:cNvSpPr/>
          <p:nvPr/>
        </p:nvSpPr>
        <p:spPr>
          <a:xfrm>
            <a:off x="5223967" y="145389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(5g*200개)/…</a:t>
            </a:r>
            <a:endParaRPr lang="en-US" sz="750" dirty="0"/>
          </a:p>
        </p:txBody>
      </p:sp>
      <p:sp>
        <p:nvSpPr>
          <p:cNvPr id="147" name="Text 143"/>
          <p:cNvSpPr/>
          <p:nvPr/>
        </p:nvSpPr>
        <p:spPr>
          <a:xfrm>
            <a:off x="5981090" y="145389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5,610원</a:t>
            </a:r>
            <a:endParaRPr lang="en-US" sz="800" dirty="0"/>
          </a:p>
        </p:txBody>
      </p:sp>
      <p:sp>
        <p:nvSpPr>
          <p:cNvPr id="148" name="Shape 144"/>
          <p:cNvSpPr/>
          <p:nvPr/>
        </p:nvSpPr>
        <p:spPr>
          <a:xfrm>
            <a:off x="3520440" y="1700784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49" name="Text 145"/>
          <p:cNvSpPr/>
          <p:nvPr/>
        </p:nvSpPr>
        <p:spPr>
          <a:xfrm>
            <a:off x="3566160" y="170078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겨자(일회용)</a:t>
            </a:r>
            <a:endParaRPr lang="en-US" sz="800" dirty="0"/>
          </a:p>
        </p:txBody>
      </p:sp>
      <p:sp>
        <p:nvSpPr>
          <p:cNvPr id="150" name="Text 146"/>
          <p:cNvSpPr/>
          <p:nvPr/>
        </p:nvSpPr>
        <p:spPr>
          <a:xfrm>
            <a:off x="5223967" y="170078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(3g*200개)/…</a:t>
            </a:r>
            <a:endParaRPr lang="en-US" sz="750" dirty="0"/>
          </a:p>
        </p:txBody>
      </p:sp>
      <p:sp>
        <p:nvSpPr>
          <p:cNvPr id="151" name="Text 147"/>
          <p:cNvSpPr/>
          <p:nvPr/>
        </p:nvSpPr>
        <p:spPr>
          <a:xfrm>
            <a:off x="5981090" y="170078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13,640원</a:t>
            </a:r>
            <a:endParaRPr lang="en-US" sz="800" dirty="0"/>
          </a:p>
        </p:txBody>
      </p:sp>
      <p:sp>
        <p:nvSpPr>
          <p:cNvPr id="152" name="Shape 148"/>
          <p:cNvSpPr/>
          <p:nvPr/>
        </p:nvSpPr>
        <p:spPr>
          <a:xfrm>
            <a:off x="3520440" y="1947672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49"/>
          <p:cNvSpPr/>
          <p:nvPr/>
        </p:nvSpPr>
        <p:spPr>
          <a:xfrm>
            <a:off x="3566160" y="194767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수제만두</a:t>
            </a:r>
            <a:endParaRPr lang="en-US" sz="800" dirty="0"/>
          </a:p>
        </p:txBody>
      </p:sp>
      <p:sp>
        <p:nvSpPr>
          <p:cNvPr id="154" name="Text 150"/>
          <p:cNvSpPr/>
          <p:nvPr/>
        </p:nvSpPr>
        <p:spPr>
          <a:xfrm>
            <a:off x="5223967" y="194767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1봉/33알</a:t>
            </a:r>
            <a:endParaRPr lang="en-US" sz="750" dirty="0"/>
          </a:p>
        </p:txBody>
      </p:sp>
      <p:sp>
        <p:nvSpPr>
          <p:cNvPr id="155" name="Text 151"/>
          <p:cNvSpPr/>
          <p:nvPr/>
        </p:nvSpPr>
        <p:spPr>
          <a:xfrm>
            <a:off x="5981090" y="194767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8,500원</a:t>
            </a:r>
            <a:endParaRPr lang="en-US" sz="800" dirty="0"/>
          </a:p>
        </p:txBody>
      </p:sp>
      <p:sp>
        <p:nvSpPr>
          <p:cNvPr id="156" name="Shape 152"/>
          <p:cNvSpPr/>
          <p:nvPr/>
        </p:nvSpPr>
        <p:spPr>
          <a:xfrm>
            <a:off x="3520440" y="2194560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57" name="Text 153"/>
          <p:cNvSpPr/>
          <p:nvPr/>
        </p:nvSpPr>
        <p:spPr>
          <a:xfrm>
            <a:off x="3566160" y="219456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푸주</a:t>
            </a:r>
            <a:endParaRPr lang="en-US" sz="800" dirty="0"/>
          </a:p>
        </p:txBody>
      </p:sp>
      <p:sp>
        <p:nvSpPr>
          <p:cNvPr id="158" name="Text 154"/>
          <p:cNvSpPr/>
          <p:nvPr/>
        </p:nvSpPr>
        <p:spPr>
          <a:xfrm>
            <a:off x="5223967" y="219456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1kg/1봉</a:t>
            </a:r>
            <a:endParaRPr lang="en-US" sz="750" dirty="0"/>
          </a:p>
        </p:txBody>
      </p:sp>
      <p:sp>
        <p:nvSpPr>
          <p:cNvPr id="159" name="Text 155"/>
          <p:cNvSpPr/>
          <p:nvPr/>
        </p:nvSpPr>
        <p:spPr>
          <a:xfrm>
            <a:off x="5981090" y="219456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10,300원</a:t>
            </a:r>
            <a:endParaRPr lang="en-US" sz="800" dirty="0"/>
          </a:p>
        </p:txBody>
      </p:sp>
      <p:sp>
        <p:nvSpPr>
          <p:cNvPr id="160" name="Shape 156"/>
          <p:cNvSpPr/>
          <p:nvPr/>
        </p:nvSpPr>
        <p:spPr>
          <a:xfrm>
            <a:off x="3520440" y="2441448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7"/>
          <p:cNvSpPr/>
          <p:nvPr/>
        </p:nvSpPr>
        <p:spPr>
          <a:xfrm>
            <a:off x="3566160" y="244144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들깨가루</a:t>
            </a:r>
            <a:endParaRPr lang="en-US" sz="800" dirty="0"/>
          </a:p>
        </p:txBody>
      </p:sp>
      <p:sp>
        <p:nvSpPr>
          <p:cNvPr id="162" name="Text 158"/>
          <p:cNvSpPr/>
          <p:nvPr/>
        </p:nvSpPr>
        <p:spPr>
          <a:xfrm>
            <a:off x="5223967" y="244144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1개</a:t>
            </a:r>
            <a:endParaRPr lang="en-US" sz="750" dirty="0"/>
          </a:p>
        </p:txBody>
      </p:sp>
      <p:sp>
        <p:nvSpPr>
          <p:cNvPr id="163" name="Text 159"/>
          <p:cNvSpPr/>
          <p:nvPr/>
        </p:nvSpPr>
        <p:spPr>
          <a:xfrm>
            <a:off x="5981090" y="244144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7,000원</a:t>
            </a:r>
            <a:endParaRPr lang="en-US" sz="800" dirty="0"/>
          </a:p>
        </p:txBody>
      </p:sp>
      <p:sp>
        <p:nvSpPr>
          <p:cNvPr id="164" name="Shape 160"/>
          <p:cNvSpPr/>
          <p:nvPr/>
        </p:nvSpPr>
        <p:spPr>
          <a:xfrm>
            <a:off x="3520440" y="2688336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65" name="Text 161"/>
          <p:cNvSpPr/>
          <p:nvPr/>
        </p:nvSpPr>
        <p:spPr>
          <a:xfrm>
            <a:off x="3566160" y="268833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수제비</a:t>
            </a:r>
            <a:endParaRPr lang="en-US" sz="800" dirty="0"/>
          </a:p>
        </p:txBody>
      </p:sp>
      <p:sp>
        <p:nvSpPr>
          <p:cNvPr id="166" name="Text 162"/>
          <p:cNvSpPr/>
          <p:nvPr/>
        </p:nvSpPr>
        <p:spPr>
          <a:xfrm>
            <a:off x="5223967" y="268833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1봉</a:t>
            </a:r>
            <a:endParaRPr lang="en-US" sz="750" dirty="0"/>
          </a:p>
        </p:txBody>
      </p:sp>
      <p:sp>
        <p:nvSpPr>
          <p:cNvPr id="167" name="Text 163"/>
          <p:cNvSpPr/>
          <p:nvPr/>
        </p:nvSpPr>
        <p:spPr>
          <a:xfrm>
            <a:off x="5981090" y="268833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4,620원</a:t>
            </a:r>
            <a:endParaRPr lang="en-US" sz="800" dirty="0"/>
          </a:p>
        </p:txBody>
      </p:sp>
      <p:sp>
        <p:nvSpPr>
          <p:cNvPr id="168" name="Shape 164"/>
          <p:cNvSpPr/>
          <p:nvPr/>
        </p:nvSpPr>
        <p:spPr>
          <a:xfrm>
            <a:off x="3520440" y="2935224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5"/>
          <p:cNvSpPr/>
          <p:nvPr/>
        </p:nvSpPr>
        <p:spPr>
          <a:xfrm>
            <a:off x="3566160" y="293522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콜라</a:t>
            </a:r>
            <a:endParaRPr lang="en-US" sz="800" dirty="0"/>
          </a:p>
        </p:txBody>
      </p:sp>
      <p:sp>
        <p:nvSpPr>
          <p:cNvPr id="170" name="Text 166"/>
          <p:cNvSpPr/>
          <p:nvPr/>
        </p:nvSpPr>
        <p:spPr>
          <a:xfrm>
            <a:off x="5223967" y="293522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1box/24개</a:t>
            </a:r>
            <a:endParaRPr lang="en-US" sz="750" dirty="0"/>
          </a:p>
        </p:txBody>
      </p:sp>
      <p:sp>
        <p:nvSpPr>
          <p:cNvPr id="171" name="Text 167"/>
          <p:cNvSpPr/>
          <p:nvPr/>
        </p:nvSpPr>
        <p:spPr>
          <a:xfrm>
            <a:off x="5981090" y="293522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18,800원</a:t>
            </a:r>
            <a:endParaRPr lang="en-US" sz="800" dirty="0"/>
          </a:p>
        </p:txBody>
      </p:sp>
      <p:sp>
        <p:nvSpPr>
          <p:cNvPr id="172" name="Shape 168"/>
          <p:cNvSpPr/>
          <p:nvPr/>
        </p:nvSpPr>
        <p:spPr>
          <a:xfrm>
            <a:off x="3520440" y="3182112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73" name="Text 169"/>
          <p:cNvSpPr/>
          <p:nvPr/>
        </p:nvSpPr>
        <p:spPr>
          <a:xfrm>
            <a:off x="3566160" y="318211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사이다</a:t>
            </a:r>
            <a:endParaRPr lang="en-US" sz="800" dirty="0"/>
          </a:p>
        </p:txBody>
      </p:sp>
      <p:sp>
        <p:nvSpPr>
          <p:cNvPr id="174" name="Text 170"/>
          <p:cNvSpPr/>
          <p:nvPr/>
        </p:nvSpPr>
        <p:spPr>
          <a:xfrm>
            <a:off x="5223967" y="318211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1box/24개</a:t>
            </a:r>
            <a:endParaRPr lang="en-US" sz="750" dirty="0"/>
          </a:p>
        </p:txBody>
      </p:sp>
      <p:sp>
        <p:nvSpPr>
          <p:cNvPr id="175" name="Text 171"/>
          <p:cNvSpPr/>
          <p:nvPr/>
        </p:nvSpPr>
        <p:spPr>
          <a:xfrm>
            <a:off x="5981090" y="318211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15,680원</a:t>
            </a:r>
            <a:endParaRPr lang="en-US" sz="800" dirty="0"/>
          </a:p>
        </p:txBody>
      </p:sp>
      <p:sp>
        <p:nvSpPr>
          <p:cNvPr id="176" name="Shape 172"/>
          <p:cNvSpPr/>
          <p:nvPr/>
        </p:nvSpPr>
        <p:spPr>
          <a:xfrm>
            <a:off x="3520440" y="3429000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3"/>
          <p:cNvSpPr/>
          <p:nvPr/>
        </p:nvSpPr>
        <p:spPr>
          <a:xfrm>
            <a:off x="3566160" y="342900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참기름</a:t>
            </a:r>
            <a:endParaRPr lang="en-US" sz="800" dirty="0"/>
          </a:p>
        </p:txBody>
      </p:sp>
      <p:sp>
        <p:nvSpPr>
          <p:cNvPr id="178" name="Text 174"/>
          <p:cNvSpPr/>
          <p:nvPr/>
        </p:nvSpPr>
        <p:spPr>
          <a:xfrm>
            <a:off x="5223967" y="342900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1.8L</a:t>
            </a:r>
            <a:endParaRPr lang="en-US" sz="750" dirty="0"/>
          </a:p>
        </p:txBody>
      </p:sp>
      <p:sp>
        <p:nvSpPr>
          <p:cNvPr id="179" name="Text 175"/>
          <p:cNvSpPr/>
          <p:nvPr/>
        </p:nvSpPr>
        <p:spPr>
          <a:xfrm>
            <a:off x="5981090" y="342900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14,500원</a:t>
            </a:r>
            <a:endParaRPr lang="en-US" sz="800" dirty="0"/>
          </a:p>
        </p:txBody>
      </p:sp>
      <p:sp>
        <p:nvSpPr>
          <p:cNvPr id="180" name="Shape 176"/>
          <p:cNvSpPr/>
          <p:nvPr/>
        </p:nvSpPr>
        <p:spPr>
          <a:xfrm>
            <a:off x="3520440" y="3675888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81" name="Text 177"/>
          <p:cNvSpPr/>
          <p:nvPr/>
        </p:nvSpPr>
        <p:spPr>
          <a:xfrm>
            <a:off x="3566160" y="367588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만능요리간장</a:t>
            </a:r>
            <a:endParaRPr lang="en-US" sz="800" dirty="0"/>
          </a:p>
        </p:txBody>
      </p:sp>
      <p:sp>
        <p:nvSpPr>
          <p:cNvPr id="182" name="Text 178"/>
          <p:cNvSpPr/>
          <p:nvPr/>
        </p:nvSpPr>
        <p:spPr>
          <a:xfrm>
            <a:off x="5223967" y="367588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950g</a:t>
            </a:r>
            <a:endParaRPr lang="en-US" sz="750" dirty="0"/>
          </a:p>
        </p:txBody>
      </p:sp>
      <p:sp>
        <p:nvSpPr>
          <p:cNvPr id="183" name="Text 179"/>
          <p:cNvSpPr/>
          <p:nvPr/>
        </p:nvSpPr>
        <p:spPr>
          <a:xfrm>
            <a:off x="5981090" y="367588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3,275원</a:t>
            </a:r>
            <a:endParaRPr lang="en-US" sz="800" dirty="0"/>
          </a:p>
        </p:txBody>
      </p:sp>
      <p:sp>
        <p:nvSpPr>
          <p:cNvPr id="184" name="Shape 180"/>
          <p:cNvSpPr/>
          <p:nvPr/>
        </p:nvSpPr>
        <p:spPr>
          <a:xfrm>
            <a:off x="3520440" y="392277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5" name="Text 181"/>
          <p:cNvSpPr/>
          <p:nvPr/>
        </p:nvSpPr>
        <p:spPr>
          <a:xfrm>
            <a:off x="3566160" y="392277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루아나버터</a:t>
            </a:r>
            <a:endParaRPr lang="en-US" sz="800" dirty="0"/>
          </a:p>
        </p:txBody>
      </p:sp>
      <p:sp>
        <p:nvSpPr>
          <p:cNvPr id="186" name="Text 182"/>
          <p:cNvSpPr/>
          <p:nvPr/>
        </p:nvSpPr>
        <p:spPr>
          <a:xfrm>
            <a:off x="5223967" y="392277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3.79L</a:t>
            </a:r>
            <a:endParaRPr lang="en-US" sz="750" dirty="0"/>
          </a:p>
        </p:txBody>
      </p:sp>
      <p:sp>
        <p:nvSpPr>
          <p:cNvPr id="187" name="Text 183"/>
          <p:cNvSpPr/>
          <p:nvPr/>
        </p:nvSpPr>
        <p:spPr>
          <a:xfrm>
            <a:off x="5981090" y="392277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33,000원</a:t>
            </a:r>
            <a:endParaRPr lang="en-US" sz="800" dirty="0"/>
          </a:p>
        </p:txBody>
      </p:sp>
      <p:sp>
        <p:nvSpPr>
          <p:cNvPr id="188" name="Shape 184"/>
          <p:cNvSpPr/>
          <p:nvPr/>
        </p:nvSpPr>
        <p:spPr>
          <a:xfrm>
            <a:off x="3520440" y="4169664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89" name="Text 185"/>
          <p:cNvSpPr/>
          <p:nvPr/>
        </p:nvSpPr>
        <p:spPr>
          <a:xfrm>
            <a:off x="3566160" y="416966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절단낙지</a:t>
            </a:r>
            <a:endParaRPr lang="en-US" sz="800" dirty="0"/>
          </a:p>
        </p:txBody>
      </p:sp>
      <p:sp>
        <p:nvSpPr>
          <p:cNvPr id="190" name="Text 186"/>
          <p:cNvSpPr/>
          <p:nvPr/>
        </p:nvSpPr>
        <p:spPr>
          <a:xfrm>
            <a:off x="5223967" y="416966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3kg</a:t>
            </a:r>
            <a:endParaRPr lang="en-US" sz="750" dirty="0"/>
          </a:p>
        </p:txBody>
      </p:sp>
      <p:sp>
        <p:nvSpPr>
          <p:cNvPr id="191" name="Text 187"/>
          <p:cNvSpPr/>
          <p:nvPr/>
        </p:nvSpPr>
        <p:spPr>
          <a:xfrm>
            <a:off x="5981090" y="416966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72,500원</a:t>
            </a:r>
            <a:endParaRPr lang="en-US" sz="800" dirty="0"/>
          </a:p>
        </p:txBody>
      </p:sp>
      <p:sp>
        <p:nvSpPr>
          <p:cNvPr id="192" name="Shape 188"/>
          <p:cNvSpPr/>
          <p:nvPr/>
        </p:nvSpPr>
        <p:spPr>
          <a:xfrm>
            <a:off x="3520440" y="4416552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89"/>
          <p:cNvSpPr/>
          <p:nvPr/>
        </p:nvSpPr>
        <p:spPr>
          <a:xfrm>
            <a:off x="3566160" y="441655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장소스</a:t>
            </a:r>
            <a:endParaRPr lang="en-US" sz="800" dirty="0"/>
          </a:p>
        </p:txBody>
      </p:sp>
      <p:sp>
        <p:nvSpPr>
          <p:cNvPr id="194" name="Text 190"/>
          <p:cNvSpPr/>
          <p:nvPr/>
        </p:nvSpPr>
        <p:spPr>
          <a:xfrm>
            <a:off x="5223967" y="441655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5" name="Shape 191"/>
          <p:cNvSpPr/>
          <p:nvPr/>
        </p:nvSpPr>
        <p:spPr>
          <a:xfrm>
            <a:off x="3520440" y="4663440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96" name="Text 192"/>
          <p:cNvSpPr/>
          <p:nvPr/>
        </p:nvSpPr>
        <p:spPr>
          <a:xfrm>
            <a:off x="3566160" y="466344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떡국떡</a:t>
            </a:r>
            <a:endParaRPr lang="en-US" sz="800" dirty="0"/>
          </a:p>
        </p:txBody>
      </p:sp>
      <p:sp>
        <p:nvSpPr>
          <p:cNvPr id="197" name="Text 193"/>
          <p:cNvSpPr/>
          <p:nvPr/>
        </p:nvSpPr>
        <p:spPr>
          <a:xfrm>
            <a:off x="5223967" y="466344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3kg</a:t>
            </a:r>
            <a:endParaRPr lang="en-US" sz="750" dirty="0"/>
          </a:p>
        </p:txBody>
      </p:sp>
      <p:sp>
        <p:nvSpPr>
          <p:cNvPr id="198" name="Text 194"/>
          <p:cNvSpPr/>
          <p:nvPr/>
        </p:nvSpPr>
        <p:spPr>
          <a:xfrm>
            <a:off x="5981090" y="466344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7,250원</a:t>
            </a:r>
            <a:endParaRPr lang="en-US" sz="800" dirty="0"/>
          </a:p>
        </p:txBody>
      </p:sp>
      <p:sp>
        <p:nvSpPr>
          <p:cNvPr id="199" name="Shape 195"/>
          <p:cNvSpPr/>
          <p:nvPr/>
        </p:nvSpPr>
        <p:spPr>
          <a:xfrm>
            <a:off x="3520440" y="4910328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0" name="Text 196"/>
          <p:cNvSpPr/>
          <p:nvPr/>
        </p:nvSpPr>
        <p:spPr>
          <a:xfrm>
            <a:off x="3566160" y="491032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믹스간장(일회용)</a:t>
            </a:r>
            <a:endParaRPr lang="en-US" sz="800" dirty="0"/>
          </a:p>
        </p:txBody>
      </p:sp>
      <p:sp>
        <p:nvSpPr>
          <p:cNvPr id="201" name="Text 197"/>
          <p:cNvSpPr/>
          <p:nvPr/>
        </p:nvSpPr>
        <p:spPr>
          <a:xfrm>
            <a:off x="5223967" y="491032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02" name="Text 198"/>
          <p:cNvSpPr/>
          <p:nvPr/>
        </p:nvSpPr>
        <p:spPr>
          <a:xfrm>
            <a:off x="5981090" y="491032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7,630원</a:t>
            </a:r>
            <a:endParaRPr lang="en-US" sz="800" dirty="0"/>
          </a:p>
        </p:txBody>
      </p:sp>
      <p:sp>
        <p:nvSpPr>
          <p:cNvPr id="203" name="Shape 199"/>
          <p:cNvSpPr/>
          <p:nvPr/>
        </p:nvSpPr>
        <p:spPr>
          <a:xfrm>
            <a:off x="3520440" y="5157216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04" name="Text 200"/>
          <p:cNvSpPr/>
          <p:nvPr/>
        </p:nvSpPr>
        <p:spPr>
          <a:xfrm>
            <a:off x="3566160" y="515721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숙주나물(해오름)</a:t>
            </a:r>
            <a:endParaRPr lang="en-US" sz="800" dirty="0"/>
          </a:p>
        </p:txBody>
      </p:sp>
      <p:sp>
        <p:nvSpPr>
          <p:cNvPr id="205" name="Text 201"/>
          <p:cNvSpPr/>
          <p:nvPr/>
        </p:nvSpPr>
        <p:spPr>
          <a:xfrm>
            <a:off x="5223967" y="515721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3.5kg/박스</a:t>
            </a:r>
            <a:endParaRPr lang="en-US" sz="750" dirty="0"/>
          </a:p>
        </p:txBody>
      </p:sp>
      <p:sp>
        <p:nvSpPr>
          <p:cNvPr id="206" name="Text 202"/>
          <p:cNvSpPr/>
          <p:nvPr/>
        </p:nvSpPr>
        <p:spPr>
          <a:xfrm>
            <a:off x="5981090" y="515721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5,200원</a:t>
            </a:r>
            <a:endParaRPr lang="en-US" sz="800" dirty="0"/>
          </a:p>
        </p:txBody>
      </p:sp>
      <p:sp>
        <p:nvSpPr>
          <p:cNvPr id="207" name="Shape 203"/>
          <p:cNvSpPr/>
          <p:nvPr/>
        </p:nvSpPr>
        <p:spPr>
          <a:xfrm>
            <a:off x="3520440" y="5404104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8" name="Text 204"/>
          <p:cNvSpPr/>
          <p:nvPr/>
        </p:nvSpPr>
        <p:spPr>
          <a:xfrm>
            <a:off x="3566160" y="540410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감자</a:t>
            </a:r>
            <a:endParaRPr lang="en-US" sz="800" dirty="0"/>
          </a:p>
        </p:txBody>
      </p:sp>
      <p:sp>
        <p:nvSpPr>
          <p:cNvPr id="209" name="Text 205"/>
          <p:cNvSpPr/>
          <p:nvPr/>
        </p:nvSpPr>
        <p:spPr>
          <a:xfrm>
            <a:off x="5223967" y="540410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박스/20kg</a:t>
            </a:r>
            <a:endParaRPr lang="en-US" sz="750" dirty="0"/>
          </a:p>
        </p:txBody>
      </p:sp>
      <p:sp>
        <p:nvSpPr>
          <p:cNvPr id="210" name="Text 206"/>
          <p:cNvSpPr/>
          <p:nvPr/>
        </p:nvSpPr>
        <p:spPr>
          <a:xfrm>
            <a:off x="5981090" y="540410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32,000원</a:t>
            </a:r>
            <a:endParaRPr lang="en-US" sz="800" dirty="0"/>
          </a:p>
        </p:txBody>
      </p:sp>
      <p:sp>
        <p:nvSpPr>
          <p:cNvPr id="211" name="Shape 207"/>
          <p:cNvSpPr/>
          <p:nvPr/>
        </p:nvSpPr>
        <p:spPr>
          <a:xfrm>
            <a:off x="3520440" y="5650992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12" name="Text 208"/>
          <p:cNvSpPr/>
          <p:nvPr/>
        </p:nvSpPr>
        <p:spPr>
          <a:xfrm>
            <a:off x="3566160" y="565099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청오이</a:t>
            </a:r>
            <a:endParaRPr lang="en-US" sz="800" dirty="0"/>
          </a:p>
        </p:txBody>
      </p:sp>
      <p:sp>
        <p:nvSpPr>
          <p:cNvPr id="213" name="Text 209"/>
          <p:cNvSpPr/>
          <p:nvPr/>
        </p:nvSpPr>
        <p:spPr>
          <a:xfrm>
            <a:off x="5223967" y="565099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박스</a:t>
            </a:r>
            <a:endParaRPr lang="en-US" sz="750" dirty="0"/>
          </a:p>
        </p:txBody>
      </p:sp>
      <p:sp>
        <p:nvSpPr>
          <p:cNvPr id="214" name="Text 210"/>
          <p:cNvSpPr/>
          <p:nvPr/>
        </p:nvSpPr>
        <p:spPr>
          <a:xfrm>
            <a:off x="5981090" y="565099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44,000원</a:t>
            </a:r>
            <a:endParaRPr lang="en-US" sz="800" dirty="0"/>
          </a:p>
        </p:txBody>
      </p:sp>
      <p:sp>
        <p:nvSpPr>
          <p:cNvPr id="215" name="Shape 211"/>
          <p:cNvSpPr/>
          <p:nvPr/>
        </p:nvSpPr>
        <p:spPr>
          <a:xfrm>
            <a:off x="3520440" y="5897880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6" name="Text 212"/>
          <p:cNvSpPr/>
          <p:nvPr/>
        </p:nvSpPr>
        <p:spPr>
          <a:xfrm>
            <a:off x="3566160" y="589788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쥬키니호박</a:t>
            </a:r>
            <a:endParaRPr lang="en-US" sz="800" dirty="0"/>
          </a:p>
        </p:txBody>
      </p:sp>
      <p:sp>
        <p:nvSpPr>
          <p:cNvPr id="217" name="Text 213"/>
          <p:cNvSpPr/>
          <p:nvPr/>
        </p:nvSpPr>
        <p:spPr>
          <a:xfrm>
            <a:off x="5223967" y="589788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박스</a:t>
            </a:r>
            <a:endParaRPr lang="en-US" sz="750" dirty="0"/>
          </a:p>
        </p:txBody>
      </p:sp>
      <p:sp>
        <p:nvSpPr>
          <p:cNvPr id="218" name="Text 214"/>
          <p:cNvSpPr/>
          <p:nvPr/>
        </p:nvSpPr>
        <p:spPr>
          <a:xfrm>
            <a:off x="5981090" y="589788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30,000원</a:t>
            </a:r>
            <a:endParaRPr lang="en-US" sz="800" dirty="0"/>
          </a:p>
        </p:txBody>
      </p:sp>
      <p:sp>
        <p:nvSpPr>
          <p:cNvPr id="219" name="Shape 215"/>
          <p:cNvSpPr/>
          <p:nvPr/>
        </p:nvSpPr>
        <p:spPr>
          <a:xfrm>
            <a:off x="3520440" y="6144768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20" name="Text 216"/>
          <p:cNvSpPr/>
          <p:nvPr/>
        </p:nvSpPr>
        <p:spPr>
          <a:xfrm>
            <a:off x="3566160" y="614476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양배추</a:t>
            </a:r>
            <a:endParaRPr lang="en-US" sz="800" dirty="0"/>
          </a:p>
        </p:txBody>
      </p:sp>
      <p:sp>
        <p:nvSpPr>
          <p:cNvPr id="221" name="Text 217"/>
          <p:cNvSpPr/>
          <p:nvPr/>
        </p:nvSpPr>
        <p:spPr>
          <a:xfrm>
            <a:off x="5223967" y="614476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1망</a:t>
            </a:r>
            <a:endParaRPr lang="en-US" sz="750" dirty="0"/>
          </a:p>
        </p:txBody>
      </p:sp>
      <p:sp>
        <p:nvSpPr>
          <p:cNvPr id="222" name="Text 218"/>
          <p:cNvSpPr/>
          <p:nvPr/>
        </p:nvSpPr>
        <p:spPr>
          <a:xfrm>
            <a:off x="5981090" y="614476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7,000원</a:t>
            </a:r>
            <a:endParaRPr lang="en-US" sz="800" dirty="0"/>
          </a:p>
        </p:txBody>
      </p:sp>
      <p:sp>
        <p:nvSpPr>
          <p:cNvPr id="223" name="Shape 219"/>
          <p:cNvSpPr/>
          <p:nvPr/>
        </p:nvSpPr>
        <p:spPr>
          <a:xfrm>
            <a:off x="3520440" y="639165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4" name="Text 220"/>
          <p:cNvSpPr/>
          <p:nvPr/>
        </p:nvSpPr>
        <p:spPr>
          <a:xfrm>
            <a:off x="3566160" y="639165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225" name="Text 221"/>
          <p:cNvSpPr/>
          <p:nvPr/>
        </p:nvSpPr>
        <p:spPr>
          <a:xfrm>
            <a:off x="5223967" y="639165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업소용 1묶음</a:t>
            </a:r>
            <a:endParaRPr lang="en-US" sz="750" dirty="0"/>
          </a:p>
        </p:txBody>
      </p:sp>
      <p:sp>
        <p:nvSpPr>
          <p:cNvPr id="226" name="Text 222"/>
          <p:cNvSpPr/>
          <p:nvPr/>
        </p:nvSpPr>
        <p:spPr>
          <a:xfrm>
            <a:off x="5981090" y="639165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29,000원</a:t>
            </a:r>
            <a:endParaRPr lang="en-US" sz="800" dirty="0"/>
          </a:p>
        </p:txBody>
      </p:sp>
      <p:sp>
        <p:nvSpPr>
          <p:cNvPr id="227" name="Shape 223"/>
          <p:cNvSpPr/>
          <p:nvPr/>
        </p:nvSpPr>
        <p:spPr>
          <a:xfrm>
            <a:off x="3520440" y="6638544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28" name="Text 224"/>
          <p:cNvSpPr/>
          <p:nvPr/>
        </p:nvSpPr>
        <p:spPr>
          <a:xfrm>
            <a:off x="3566160" y="663854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229" name="Text 225"/>
          <p:cNvSpPr/>
          <p:nvPr/>
        </p:nvSpPr>
        <p:spPr>
          <a:xfrm>
            <a:off x="5223967" y="663854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1단</a:t>
            </a:r>
            <a:endParaRPr lang="en-US" sz="750" dirty="0"/>
          </a:p>
        </p:txBody>
      </p:sp>
      <p:sp>
        <p:nvSpPr>
          <p:cNvPr id="230" name="Text 226"/>
          <p:cNvSpPr/>
          <p:nvPr/>
        </p:nvSpPr>
        <p:spPr>
          <a:xfrm>
            <a:off x="5981090" y="663854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5,000원</a:t>
            </a:r>
            <a:endParaRPr lang="en-US" sz="800" dirty="0"/>
          </a:p>
        </p:txBody>
      </p:sp>
      <p:sp>
        <p:nvSpPr>
          <p:cNvPr id="231" name="Shape 227"/>
          <p:cNvSpPr/>
          <p:nvPr/>
        </p:nvSpPr>
        <p:spPr>
          <a:xfrm>
            <a:off x="3520440" y="6885432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2" name="Text 228"/>
          <p:cNvSpPr/>
          <p:nvPr/>
        </p:nvSpPr>
        <p:spPr>
          <a:xfrm>
            <a:off x="3566160" y="688543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당근</a:t>
            </a:r>
            <a:endParaRPr lang="en-US" sz="800" dirty="0"/>
          </a:p>
        </p:txBody>
      </p:sp>
      <p:sp>
        <p:nvSpPr>
          <p:cNvPr id="233" name="Text 229"/>
          <p:cNvSpPr/>
          <p:nvPr/>
        </p:nvSpPr>
        <p:spPr>
          <a:xfrm>
            <a:off x="5223967" y="688543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개</a:t>
            </a:r>
            <a:endParaRPr lang="en-US" sz="750" dirty="0"/>
          </a:p>
        </p:txBody>
      </p:sp>
      <p:sp>
        <p:nvSpPr>
          <p:cNvPr id="234" name="Shape 230"/>
          <p:cNvSpPr/>
          <p:nvPr/>
        </p:nvSpPr>
        <p:spPr>
          <a:xfrm>
            <a:off x="3520440" y="7132320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5" name="Text 231"/>
          <p:cNvSpPr/>
          <p:nvPr/>
        </p:nvSpPr>
        <p:spPr>
          <a:xfrm>
            <a:off x="3566160" y="713232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236" name="Text 232"/>
          <p:cNvSpPr/>
          <p:nvPr/>
        </p:nvSpPr>
        <p:spPr>
          <a:xfrm>
            <a:off x="5223967" y="713232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박스</a:t>
            </a:r>
            <a:endParaRPr lang="en-US" sz="750" dirty="0"/>
          </a:p>
        </p:txBody>
      </p:sp>
      <p:sp>
        <p:nvSpPr>
          <p:cNvPr id="237" name="Text 233"/>
          <p:cNvSpPr/>
          <p:nvPr/>
        </p:nvSpPr>
        <p:spPr>
          <a:xfrm>
            <a:off x="5981090" y="713232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10,000원</a:t>
            </a:r>
            <a:endParaRPr lang="en-US" sz="800" dirty="0"/>
          </a:p>
        </p:txBody>
      </p:sp>
      <p:sp>
        <p:nvSpPr>
          <p:cNvPr id="238" name="Shape 234"/>
          <p:cNvSpPr/>
          <p:nvPr/>
        </p:nvSpPr>
        <p:spPr>
          <a:xfrm>
            <a:off x="3520440" y="7379208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9" name="Text 235"/>
          <p:cNvSpPr/>
          <p:nvPr/>
        </p:nvSpPr>
        <p:spPr>
          <a:xfrm>
            <a:off x="3566160" y="737920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쌀</a:t>
            </a:r>
            <a:endParaRPr lang="en-US" sz="800" dirty="0"/>
          </a:p>
        </p:txBody>
      </p:sp>
      <p:sp>
        <p:nvSpPr>
          <p:cNvPr id="240" name="Text 236"/>
          <p:cNvSpPr/>
          <p:nvPr/>
        </p:nvSpPr>
        <p:spPr>
          <a:xfrm>
            <a:off x="5223967" y="737920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20kg/개</a:t>
            </a:r>
            <a:endParaRPr lang="en-US" sz="750" dirty="0"/>
          </a:p>
        </p:txBody>
      </p:sp>
      <p:sp>
        <p:nvSpPr>
          <p:cNvPr id="241" name="Text 237"/>
          <p:cNvSpPr/>
          <p:nvPr/>
        </p:nvSpPr>
        <p:spPr>
          <a:xfrm>
            <a:off x="5981090" y="737920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58,900원</a:t>
            </a:r>
            <a:endParaRPr lang="en-US" sz="800" dirty="0"/>
          </a:p>
        </p:txBody>
      </p:sp>
      <p:sp>
        <p:nvSpPr>
          <p:cNvPr id="242" name="Shape 238"/>
          <p:cNvSpPr/>
          <p:nvPr/>
        </p:nvSpPr>
        <p:spPr>
          <a:xfrm>
            <a:off x="3520440" y="7626096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43" name="Text 239"/>
          <p:cNvSpPr/>
          <p:nvPr/>
        </p:nvSpPr>
        <p:spPr>
          <a:xfrm>
            <a:off x="3566160" y="762609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식용유</a:t>
            </a:r>
            <a:endParaRPr lang="en-US" sz="800" dirty="0"/>
          </a:p>
        </p:txBody>
      </p:sp>
      <p:sp>
        <p:nvSpPr>
          <p:cNvPr id="244" name="Text 240"/>
          <p:cNvSpPr/>
          <p:nvPr/>
        </p:nvSpPr>
        <p:spPr>
          <a:xfrm>
            <a:off x="5223967" y="762609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45" name="Text 241"/>
          <p:cNvSpPr/>
          <p:nvPr/>
        </p:nvSpPr>
        <p:spPr>
          <a:xfrm>
            <a:off x="5981090" y="762609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42,000원</a:t>
            </a:r>
            <a:endParaRPr lang="en-US" sz="800" dirty="0"/>
          </a:p>
        </p:txBody>
      </p:sp>
      <p:sp>
        <p:nvSpPr>
          <p:cNvPr id="246" name="Shape 242"/>
          <p:cNvSpPr/>
          <p:nvPr/>
        </p:nvSpPr>
        <p:spPr>
          <a:xfrm>
            <a:off x="3520440" y="7872984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7" name="Text 243"/>
          <p:cNvSpPr/>
          <p:nvPr/>
        </p:nvSpPr>
        <p:spPr>
          <a:xfrm>
            <a:off x="3566160" y="7872984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갈색설탕</a:t>
            </a:r>
            <a:endParaRPr lang="en-US" sz="800" dirty="0"/>
          </a:p>
        </p:txBody>
      </p:sp>
      <p:sp>
        <p:nvSpPr>
          <p:cNvPr id="248" name="Text 244"/>
          <p:cNvSpPr/>
          <p:nvPr/>
        </p:nvSpPr>
        <p:spPr>
          <a:xfrm>
            <a:off x="5223967" y="7872984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(개/1kg)-백설</a:t>
            </a:r>
            <a:endParaRPr lang="en-US" sz="750" dirty="0"/>
          </a:p>
        </p:txBody>
      </p:sp>
      <p:sp>
        <p:nvSpPr>
          <p:cNvPr id="249" name="Text 245"/>
          <p:cNvSpPr/>
          <p:nvPr/>
        </p:nvSpPr>
        <p:spPr>
          <a:xfrm>
            <a:off x="5981090" y="7872984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7,580원</a:t>
            </a:r>
            <a:endParaRPr lang="en-US" sz="800" dirty="0"/>
          </a:p>
        </p:txBody>
      </p:sp>
      <p:sp>
        <p:nvSpPr>
          <p:cNvPr id="250" name="Shape 246"/>
          <p:cNvSpPr/>
          <p:nvPr/>
        </p:nvSpPr>
        <p:spPr>
          <a:xfrm>
            <a:off x="3520440" y="8119872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51" name="Text 247"/>
          <p:cNvSpPr/>
          <p:nvPr/>
        </p:nvSpPr>
        <p:spPr>
          <a:xfrm>
            <a:off x="3566160" y="8119872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진간장</a:t>
            </a:r>
            <a:endParaRPr lang="en-US" sz="800" dirty="0"/>
          </a:p>
        </p:txBody>
      </p:sp>
      <p:sp>
        <p:nvSpPr>
          <p:cNvPr id="252" name="Text 248"/>
          <p:cNvSpPr/>
          <p:nvPr/>
        </p:nvSpPr>
        <p:spPr>
          <a:xfrm>
            <a:off x="5223967" y="8119872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1개/1.8L</a:t>
            </a:r>
            <a:endParaRPr lang="en-US" sz="750" dirty="0"/>
          </a:p>
        </p:txBody>
      </p:sp>
      <p:sp>
        <p:nvSpPr>
          <p:cNvPr id="253" name="Text 249"/>
          <p:cNvSpPr/>
          <p:nvPr/>
        </p:nvSpPr>
        <p:spPr>
          <a:xfrm>
            <a:off x="5981090" y="8119872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4,180원</a:t>
            </a:r>
            <a:endParaRPr lang="en-US" sz="800" dirty="0"/>
          </a:p>
        </p:txBody>
      </p:sp>
      <p:sp>
        <p:nvSpPr>
          <p:cNvPr id="254" name="Shape 250"/>
          <p:cNvSpPr/>
          <p:nvPr/>
        </p:nvSpPr>
        <p:spPr>
          <a:xfrm>
            <a:off x="3520440" y="8366760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5" name="Text 251"/>
          <p:cNvSpPr/>
          <p:nvPr/>
        </p:nvSpPr>
        <p:spPr>
          <a:xfrm>
            <a:off x="3566160" y="8366760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마요네즈</a:t>
            </a:r>
            <a:endParaRPr lang="en-US" sz="800" dirty="0"/>
          </a:p>
        </p:txBody>
      </p:sp>
      <p:sp>
        <p:nvSpPr>
          <p:cNvPr id="256" name="Text 252"/>
          <p:cNvSpPr/>
          <p:nvPr/>
        </p:nvSpPr>
        <p:spPr>
          <a:xfrm>
            <a:off x="5223967" y="8366760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57" name="Text 253"/>
          <p:cNvSpPr/>
          <p:nvPr/>
        </p:nvSpPr>
        <p:spPr>
          <a:xfrm>
            <a:off x="5981090" y="8366760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15,000원</a:t>
            </a:r>
            <a:endParaRPr lang="en-US" sz="800" dirty="0"/>
          </a:p>
        </p:txBody>
      </p:sp>
      <p:sp>
        <p:nvSpPr>
          <p:cNvPr id="258" name="Shape 254"/>
          <p:cNvSpPr/>
          <p:nvPr/>
        </p:nvSpPr>
        <p:spPr>
          <a:xfrm>
            <a:off x="3520440" y="8613648"/>
            <a:ext cx="3154680" cy="246888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59" name="Text 255"/>
          <p:cNvSpPr/>
          <p:nvPr/>
        </p:nvSpPr>
        <p:spPr>
          <a:xfrm>
            <a:off x="3566160" y="8613648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꽃소금</a:t>
            </a:r>
            <a:endParaRPr lang="en-US" sz="800" dirty="0"/>
          </a:p>
        </p:txBody>
      </p:sp>
      <p:sp>
        <p:nvSpPr>
          <p:cNvPr id="260" name="Text 256"/>
          <p:cNvSpPr/>
          <p:nvPr/>
        </p:nvSpPr>
        <p:spPr>
          <a:xfrm>
            <a:off x="5223967" y="8613648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10kg/개</a:t>
            </a:r>
            <a:endParaRPr lang="en-US" sz="750" dirty="0"/>
          </a:p>
        </p:txBody>
      </p:sp>
      <p:sp>
        <p:nvSpPr>
          <p:cNvPr id="261" name="Text 257"/>
          <p:cNvSpPr/>
          <p:nvPr/>
        </p:nvSpPr>
        <p:spPr>
          <a:xfrm>
            <a:off x="5981090" y="8613648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2,210원</a:t>
            </a:r>
            <a:endParaRPr lang="en-US" sz="800" dirty="0"/>
          </a:p>
        </p:txBody>
      </p:sp>
      <p:sp>
        <p:nvSpPr>
          <p:cNvPr id="262" name="Shape 258"/>
          <p:cNvSpPr/>
          <p:nvPr/>
        </p:nvSpPr>
        <p:spPr>
          <a:xfrm>
            <a:off x="3520440" y="8860536"/>
            <a:ext cx="31546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3" name="Text 259"/>
          <p:cNvSpPr/>
          <p:nvPr/>
        </p:nvSpPr>
        <p:spPr>
          <a:xfrm>
            <a:off x="3566160" y="8860536"/>
            <a:ext cx="170352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굵은소금</a:t>
            </a:r>
            <a:endParaRPr lang="en-US" sz="800" dirty="0"/>
          </a:p>
        </p:txBody>
      </p:sp>
      <p:sp>
        <p:nvSpPr>
          <p:cNvPr id="264" name="Text 260"/>
          <p:cNvSpPr/>
          <p:nvPr/>
        </p:nvSpPr>
        <p:spPr>
          <a:xfrm>
            <a:off x="5223967" y="8860536"/>
            <a:ext cx="8202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4226"/>
                </a:solidFill>
              </a:rPr>
              <a:t>10kg</a:t>
            </a:r>
            <a:endParaRPr lang="en-US" sz="750" dirty="0"/>
          </a:p>
        </p:txBody>
      </p:sp>
      <p:sp>
        <p:nvSpPr>
          <p:cNvPr id="265" name="Text 261"/>
          <p:cNvSpPr/>
          <p:nvPr/>
        </p:nvSpPr>
        <p:spPr>
          <a:xfrm>
            <a:off x="5981090" y="8860536"/>
            <a:ext cx="6940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13,000원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잔치육수 </a:t>
            </a:r>
            <a:r>
              <a:rPr lang="en-US" altLang="ko-KR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 </a:t>
            </a:r>
            <a:r>
              <a:rPr lang="ko-KR" alt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칼국수 육수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09728" y="130759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4" name="Text 39"/>
          <p:cNvSpPr/>
          <p:nvPr/>
        </p:nvSpPr>
        <p:spPr>
          <a:xfrm>
            <a:off x="256032" y="130759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잔치육수 </a:t>
            </a: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201168" y="5852160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204978" y="5907024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7" name="Text 42"/>
          <p:cNvSpPr/>
          <p:nvPr/>
        </p:nvSpPr>
        <p:spPr>
          <a:xfrm>
            <a:off x="201168" y="5907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30352" y="586130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 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21kg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201168" y="6217920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Shape 45"/>
          <p:cNvSpPr/>
          <p:nvPr/>
        </p:nvSpPr>
        <p:spPr>
          <a:xfrm>
            <a:off x="201168" y="6272784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1" name="Text 46"/>
          <p:cNvSpPr/>
          <p:nvPr/>
        </p:nvSpPr>
        <p:spPr>
          <a:xfrm>
            <a:off x="204978" y="6291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530352" y="622706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물이 끓어오르면 잔치분말 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300g,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우골엑기스 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450g,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소주 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1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종이컵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(180g)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을 잘 풀어 준다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201168" y="6583680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Shape 49"/>
          <p:cNvSpPr/>
          <p:nvPr/>
        </p:nvSpPr>
        <p:spPr>
          <a:xfrm>
            <a:off x="204978" y="6629400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5" name="Text 50"/>
          <p:cNvSpPr/>
          <p:nvPr/>
        </p:nvSpPr>
        <p:spPr>
          <a:xfrm>
            <a:off x="201168" y="6638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530352" y="659282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 12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분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30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초 동안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중약불로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 끓인 후 위에 뜬 부유물을 걷어내고 사용한다</a:t>
            </a:r>
            <a:endParaRPr lang="en-US" sz="950" dirty="0"/>
          </a:p>
        </p:txBody>
      </p:sp>
      <p:sp>
        <p:nvSpPr>
          <p:cNvPr id="67" name="Shape 62"/>
          <p:cNvSpPr/>
          <p:nvPr/>
        </p:nvSpPr>
        <p:spPr>
          <a:xfrm>
            <a:off x="109728" y="1737360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8" name="Shape 63"/>
          <p:cNvSpPr/>
          <p:nvPr/>
        </p:nvSpPr>
        <p:spPr>
          <a:xfrm>
            <a:off x="192024" y="1775079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9" name="Text 64"/>
          <p:cNvSpPr/>
          <p:nvPr/>
        </p:nvSpPr>
        <p:spPr>
          <a:xfrm>
            <a:off x="192024" y="17724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0" name="Text 65"/>
          <p:cNvSpPr/>
          <p:nvPr/>
        </p:nvSpPr>
        <p:spPr>
          <a:xfrm>
            <a:off x="521208" y="172669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 16kg</a:t>
            </a:r>
            <a:endParaRPr lang="en-US" sz="950" dirty="0"/>
          </a:p>
        </p:txBody>
      </p:sp>
      <p:sp>
        <p:nvSpPr>
          <p:cNvPr id="71" name="Shape 66"/>
          <p:cNvSpPr/>
          <p:nvPr/>
        </p:nvSpPr>
        <p:spPr>
          <a:xfrm>
            <a:off x="109728" y="2103120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72" name="Shape 67"/>
          <p:cNvSpPr/>
          <p:nvPr/>
        </p:nvSpPr>
        <p:spPr>
          <a:xfrm>
            <a:off x="192024" y="2140839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73" name="Text 68"/>
          <p:cNvSpPr/>
          <p:nvPr/>
        </p:nvSpPr>
        <p:spPr>
          <a:xfrm>
            <a:off x="192024" y="21381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521208" y="209245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물이 끓어오르면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잔치분말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450g, </a:t>
            </a:r>
            <a:r>
              <a:rPr lang="en-US" altLang="ko-KR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소주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1종이컵(180g)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넣어 잘 풀어준다</a:t>
            </a:r>
            <a:endParaRPr lang="en-US" altLang="ko-KR" sz="950" dirty="0"/>
          </a:p>
        </p:txBody>
      </p:sp>
      <p:sp>
        <p:nvSpPr>
          <p:cNvPr id="75" name="Shape 70"/>
          <p:cNvSpPr/>
          <p:nvPr/>
        </p:nvSpPr>
        <p:spPr>
          <a:xfrm>
            <a:off x="109728" y="2468880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1"/>
          <p:cNvSpPr/>
          <p:nvPr/>
        </p:nvSpPr>
        <p:spPr>
          <a:xfrm>
            <a:off x="192024" y="2506599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77" name="Text 72"/>
          <p:cNvSpPr/>
          <p:nvPr/>
        </p:nvSpPr>
        <p:spPr>
          <a:xfrm>
            <a:off x="192024" y="25039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521208" y="245821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12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분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30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초 동안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중약불로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cs typeface="Calibri" pitchFamily="34" charset="-120"/>
              </a:rPr>
              <a:t> 끓인 후 위에 뜬 부유물을 걷어내고 사용한다</a:t>
            </a:r>
            <a:endParaRPr lang="en-US" sz="950" dirty="0"/>
          </a:p>
        </p:txBody>
      </p:sp>
      <p:sp>
        <p:nvSpPr>
          <p:cNvPr id="57" name="Shape 38">
            <a:extLst>
              <a:ext uri="{FF2B5EF4-FFF2-40B4-BE49-F238E27FC236}">
                <a16:creationId xmlns:a16="http://schemas.microsoft.com/office/drawing/2014/main" id="{4DBD3634-2C2C-AA37-26B8-5B0797134D30}"/>
              </a:ext>
            </a:extLst>
          </p:cNvPr>
          <p:cNvSpPr/>
          <p:nvPr/>
        </p:nvSpPr>
        <p:spPr>
          <a:xfrm>
            <a:off x="219456" y="5385816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FF2EE1F7-94BB-6EFA-7AC0-816571C38A90}"/>
              </a:ext>
            </a:extLst>
          </p:cNvPr>
          <p:cNvSpPr/>
          <p:nvPr/>
        </p:nvSpPr>
        <p:spPr>
          <a:xfrm>
            <a:off x="365760" y="53766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칼국수 육수 </a:t>
            </a: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B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8CAA0-8946-BCD5-E267-90DF534E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25E600-A991-5D03-983A-3D2B92F59B0D}"/>
              </a:ext>
            </a:extLst>
          </p:cNvPr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77D540-A127-D06A-114D-88E744E25433}"/>
              </a:ext>
            </a:extLst>
          </p:cNvPr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4DB013-BBCC-1311-C0BD-40E649E4713E}"/>
              </a:ext>
            </a:extLst>
          </p:cNvPr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3CB4B13-C9C2-DDBE-71DF-45A6B081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1A16521-3F04-1DA5-985D-3D4010255552}"/>
              </a:ext>
            </a:extLst>
          </p:cNvPr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아침愛국밥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444B8D0-36F1-12EB-2E8C-C411728BEDC7}"/>
              </a:ext>
            </a:extLst>
          </p:cNvPr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A08A8A9-075E-42FD-3D33-E9D497126AF6}"/>
              </a:ext>
            </a:extLst>
          </p:cNvPr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3B8340B-C539-C25E-AA7E-8DD344F49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F23154FF-AE88-05A6-A22B-40FA4DEE1829}"/>
              </a:ext>
            </a:extLst>
          </p:cNvPr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F9A419B-B4E9-0D58-1842-7F08274BA968}"/>
              </a:ext>
            </a:extLst>
          </p:cNvPr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0551242-C1B3-72C7-8EAF-B09876E1D016}"/>
              </a:ext>
            </a:extLst>
          </p:cNvPr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819733C-679D-6B9D-1A75-975390383A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382E40DC-A849-EB5C-AA5D-93BEB6B34136}"/>
              </a:ext>
            </a:extLst>
          </p:cNvPr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24EF8FD-3E66-7CE4-FF74-6EFDAB3B4B27}"/>
              </a:ext>
            </a:extLst>
          </p:cNvPr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4E4E657-5081-FA96-307A-FF748A815CAD}"/>
              </a:ext>
            </a:extLst>
          </p:cNvPr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EFF62381-2E3B-89B2-2D69-B092D481E639}"/>
              </a:ext>
            </a:extLst>
          </p:cNvPr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442E021-38E8-7C0E-B03B-51F808806A5E}"/>
              </a:ext>
            </a:extLst>
          </p:cNvPr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8종</a:t>
            </a:r>
            <a:endParaRPr lang="en-US" sz="9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AB7ED49-8670-5906-F231-91828BCA84D3}"/>
              </a:ext>
            </a:extLst>
          </p:cNvPr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8CBFCDA7-CD58-F5E6-A6B9-B729E9B44EA0}"/>
              </a:ext>
            </a:extLst>
          </p:cNvPr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밥</a:t>
            </a:r>
            <a:endParaRPr lang="en-US" sz="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40A152C-E07B-FB43-E777-F5DA9508AD7C}"/>
              </a:ext>
            </a:extLst>
          </p:cNvPr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43A0C169-9231-50DE-29AA-32FF0896EAAE}"/>
              </a:ext>
            </a:extLst>
          </p:cNvPr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B0441EA-3707-4A44-A2FD-BA9804B5DE4F}"/>
              </a:ext>
            </a:extLst>
          </p:cNvPr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C1E453D-2E76-1AD6-3AFD-8EE62E38CF60}"/>
              </a:ext>
            </a:extLst>
          </p:cNvPr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400 ml</a:t>
            </a:r>
            <a:endParaRPr lang="en-US" sz="8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945519D1-0B6D-66D2-160C-28A00D0D0163}"/>
              </a:ext>
            </a:extLst>
          </p:cNvPr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F7B3E339-89AC-523C-0A70-BCFD57220AFD}"/>
              </a:ext>
            </a:extLst>
          </p:cNvPr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데친숙주나물</a:t>
            </a:r>
            <a:endParaRPr lang="en-US" sz="8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0FDDDF26-AB13-4A88-51B5-784E9B155C80}"/>
              </a:ext>
            </a:extLst>
          </p:cNvPr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 g</a:t>
            </a:r>
            <a:endParaRPr lang="en-US" sz="8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FB6B280A-CB32-6E59-1C14-A73953B93287}"/>
              </a:ext>
            </a:extLst>
          </p:cNvPr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17003C3-5007-86FB-CE44-9302C47C5769}"/>
              </a:ext>
            </a:extLst>
          </p:cNvPr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강동다진김치/녹색(박스/…</a:t>
            </a:r>
            <a:endParaRPr lang="en-US" sz="8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487E2E3B-5497-60A7-972E-96896509874F}"/>
              </a:ext>
            </a:extLst>
          </p:cNvPr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E309E5C8-ECCC-2AE6-8BCB-11EBD63633B0}"/>
              </a:ext>
            </a:extLst>
          </p:cNvPr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0743A399-E579-1241-B4E3-590FD4BB7735}"/>
              </a:ext>
            </a:extLst>
          </p:cNvPr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3F224F4D-15C9-3B38-CF37-32BA48A51372}"/>
              </a:ext>
            </a:extLst>
          </p:cNvPr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0EF2ACEF-67CC-3727-2A86-7357782B3058}"/>
              </a:ext>
            </a:extLst>
          </p:cNvPr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602A28A8-FAD8-C616-F6FF-877C7F8C679A}"/>
              </a:ext>
            </a:extLst>
          </p:cNvPr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나무야 슬라이스냉동유부 …</a:t>
            </a:r>
            <a:endParaRPr lang="en-US" sz="8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1D6DED35-47D0-0710-D569-314D7C831E00}"/>
              </a:ext>
            </a:extLst>
          </p:cNvPr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g</a:t>
            </a:r>
            <a:endParaRPr lang="en-US" sz="8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57AC7E7D-2A0D-3BB5-7342-AB04FCC689E6}"/>
              </a:ext>
            </a:extLst>
          </p:cNvPr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D06D028D-D332-75D0-244C-3D406E0DA103}"/>
              </a:ext>
            </a:extLst>
          </p:cNvPr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다진 청양고추</a:t>
            </a:r>
            <a:endParaRPr lang="en-US" sz="8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555DFA01-C3EF-6D0A-1D1F-6893C6A9A65B}"/>
              </a:ext>
            </a:extLst>
          </p:cNvPr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g</a:t>
            </a:r>
            <a:endParaRPr lang="en-US" sz="800" dirty="0"/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B782B4CF-D6A1-CBE7-E2E1-57266C171C16}"/>
              </a:ext>
            </a:extLst>
          </p:cNvPr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E1B0E3EC-BC73-110B-76D0-B35B396C110A}"/>
              </a:ext>
            </a:extLst>
          </p:cNvPr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계란후라이</a:t>
            </a:r>
            <a:endParaRPr lang="en-US" sz="8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14276266-63AC-6C1F-CF30-858513627687}"/>
              </a:ext>
            </a:extLst>
          </p:cNvPr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43" name="Shape 38">
            <a:extLst>
              <a:ext uri="{FF2B5EF4-FFF2-40B4-BE49-F238E27FC236}">
                <a16:creationId xmlns:a16="http://schemas.microsoft.com/office/drawing/2014/main" id="{BA87E102-D941-2328-AF6E-EFDFD1F4F672}"/>
              </a:ext>
            </a:extLst>
          </p:cNvPr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598BFB1D-A63A-BF7F-171C-4881BD792592}"/>
              </a:ext>
            </a:extLst>
          </p:cNvPr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8A078334-FFAB-F379-414D-959539EEB4AC}"/>
              </a:ext>
            </a:extLst>
          </p:cNvPr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F2AAF282-CA5D-F55C-F20F-E9BECE0CD76A}"/>
              </a:ext>
            </a:extLst>
          </p:cNvPr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B61DBE41-04A5-739F-9EB0-709E19411F07}"/>
              </a:ext>
            </a:extLst>
          </p:cNvPr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892523F3-6475-FD49-54D9-E3C26F8DD385}"/>
              </a:ext>
            </a:extLst>
          </p:cNvPr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청량고추를 제외한 재료를 용기에 담아 끓인다</a:t>
            </a:r>
            <a:endParaRPr lang="en-US" sz="950" dirty="0"/>
          </a:p>
        </p:txBody>
      </p:sp>
      <p:sp>
        <p:nvSpPr>
          <p:cNvPr id="49" name="Shape 44">
            <a:extLst>
              <a:ext uri="{FF2B5EF4-FFF2-40B4-BE49-F238E27FC236}">
                <a16:creationId xmlns:a16="http://schemas.microsoft.com/office/drawing/2014/main" id="{E847A480-A436-21D9-47C4-5C5974971EA3}"/>
              </a:ext>
            </a:extLst>
          </p:cNvPr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7AE9FB27-212E-3E28-ED1A-C69EFEEF5F36}"/>
              </a:ext>
            </a:extLst>
          </p:cNvPr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4C0D0564-53CF-7CB0-A264-5070FF39B696}"/>
              </a:ext>
            </a:extLst>
          </p:cNvPr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45D5BD5E-0C18-9F39-6EAE-AE1E4657AACC}"/>
              </a:ext>
            </a:extLst>
          </p:cNvPr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내용물이 끓어오르면 청량고추를 넣은후 불을 끈다</a:t>
            </a:r>
            <a:endParaRPr lang="en-US" sz="950" dirty="0"/>
          </a:p>
        </p:txBody>
      </p:sp>
      <p:sp>
        <p:nvSpPr>
          <p:cNvPr id="53" name="Shape 48">
            <a:extLst>
              <a:ext uri="{FF2B5EF4-FFF2-40B4-BE49-F238E27FC236}">
                <a16:creationId xmlns:a16="http://schemas.microsoft.com/office/drawing/2014/main" id="{2CB9231A-46CA-4047-EA0D-E455BE2C721B}"/>
              </a:ext>
            </a:extLst>
          </p:cNvPr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51CF5B83-4519-F8FE-2278-7FFA9F5B53AB}"/>
              </a:ext>
            </a:extLst>
          </p:cNvPr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605CACC3-0A14-3AB5-0CA0-9C1C93CF5AFB}"/>
              </a:ext>
            </a:extLst>
          </p:cNvPr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B0BAE1D6-CF64-DE43-EEF6-0C74A3433B24}"/>
              </a:ext>
            </a:extLst>
          </p:cNvPr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공기밥과 계란후라이를 함께 제공한다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9537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김치볶음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429000" y="1051560"/>
            <a:ext cx="3246120" cy="324612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2" name="Text 8"/>
          <p:cNvSpPr/>
          <p:nvPr/>
        </p:nvSpPr>
        <p:spPr>
          <a:xfrm>
            <a:off x="3429000" y="10515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4" name="Text 10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6종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0" name="Text 16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우골농축액플러스(1kg/…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냉동다진마늘 1kg/개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50 g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6" name="Text 22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설탕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5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고추가루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 g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28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콩식용유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 g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182880" y="2764113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1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물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38" name="Text 34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6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1" name="Text 37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재료를 코팅팬에 넣고 중불에서 끓인다.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4" name="Shape 40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5" name="Text 41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끓기 시작하면 약불로 줄이고  저어가면서 5분간 끓인 후 식혀서 냉장보관 한다.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4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9" name="Text 45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(팁) 김치900 + 국물100 / 숙성된 김치사용</a:t>
            </a:r>
            <a:endParaRPr lang="en-US" sz="950" dirty="0"/>
          </a:p>
        </p:txBody>
      </p:sp>
      <p:sp>
        <p:nvSpPr>
          <p:cNvPr id="16" name="Shape 27">
            <a:extLst>
              <a:ext uri="{FF2B5EF4-FFF2-40B4-BE49-F238E27FC236}">
                <a16:creationId xmlns:a16="http://schemas.microsoft.com/office/drawing/2014/main" id="{A6619579-D13B-7CF6-06BC-902C2A40107E}"/>
              </a:ext>
            </a:extLst>
          </p:cNvPr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149528E0-F2B0-B95D-BCB5-9816AA5C8502}"/>
              </a:ext>
            </a:extLst>
          </p:cNvPr>
          <p:cNvSpPr/>
          <p:nvPr/>
        </p:nvSpPr>
        <p:spPr>
          <a:xfrm>
            <a:off x="210312" y="27432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 </a:t>
            </a:r>
            <a:r>
              <a:rPr lang="ko-KR" altLang="en-US" sz="800" dirty="0">
                <a:solidFill>
                  <a:srgbClr val="3D2010"/>
                </a:solidFill>
              </a:rPr>
              <a:t>숙성김치</a:t>
            </a:r>
            <a:endParaRPr lang="en-US" sz="800" dirty="0"/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9E40819E-3F8F-482A-81A8-094FC4A8A4ED}"/>
              </a:ext>
            </a:extLst>
          </p:cNvPr>
          <p:cNvSpPr/>
          <p:nvPr/>
        </p:nvSpPr>
        <p:spPr>
          <a:xfrm>
            <a:off x="2665476" y="274853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1000 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김치찌개돈까스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7종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김치볶음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등심돈까스1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함양농협쌀 취사후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쑥갓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4" name="Text 39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김치볶음과 잔치육수를 냄비에 넣고 끓인다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Shape 45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1" name="Text 46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튀겨진 돈까스를 잘라서 올린다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9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5" name="Text 50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팽이버섯과 쑥갓(부추)로 토핑하여 공기밥과 같이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칼국수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5,800원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9종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칼국수면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당근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호박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0" name="Text 45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7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해면기에 면을 3분간 삶는다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6" name="Shape 51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7" name="Text 52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면기에 넣고 육수를 채운다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5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1" name="Text 56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데친 호박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당근채와 지단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대파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김가루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칼국수세트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칼국수</a:t>
            </a:r>
            <a:r>
              <a:rPr lang="ko-KR" altLang="en-US" sz="800" dirty="0">
                <a:solidFill>
                  <a:srgbClr val="3D2010"/>
                </a:solidFill>
              </a:rPr>
              <a:t>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당근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호박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튀김만두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ea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369417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369417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공기밥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2679192" y="369417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120 g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6" name="Text 51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3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9" name="Text 54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해면기에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2분 40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 삶는다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2" name="Shape 57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3" name="Text 58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면기에 넣고 육수를 채운다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1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7" name="Text 62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고명을 올린후 튀김만두와 공기밥을 함께 제공한다</a:t>
            </a:r>
            <a:endParaRPr lang="en-US" sz="950" dirty="0"/>
          </a:p>
        </p:txBody>
      </p:sp>
      <p:sp>
        <p:nvSpPr>
          <p:cNvPr id="69" name="Shape 64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70" name="Shape 65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71" name="Text 66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칼국수육수 제조비율</a:t>
            </a:r>
            <a:endParaRPr lang="en-US" sz="950" dirty="0"/>
          </a:p>
        </p:txBody>
      </p:sp>
      <p:sp>
        <p:nvSpPr>
          <p:cNvPr id="73" name="Shape 68"/>
          <p:cNvSpPr/>
          <p:nvPr/>
        </p:nvSpPr>
        <p:spPr>
          <a:xfrm>
            <a:off x="182880" y="600303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69"/>
          <p:cNvSpPr/>
          <p:nvPr/>
        </p:nvSpPr>
        <p:spPr>
          <a:xfrm>
            <a:off x="237744" y="604875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75" name="Text 70"/>
          <p:cNvSpPr/>
          <p:nvPr/>
        </p:nvSpPr>
        <p:spPr>
          <a:xfrm>
            <a:off x="237744" y="60487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566928" y="600303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 21kg</a:t>
            </a:r>
            <a:endParaRPr lang="en-US" sz="950" dirty="0"/>
          </a:p>
        </p:txBody>
      </p:sp>
      <p:sp>
        <p:nvSpPr>
          <p:cNvPr id="77" name="Shape 72"/>
          <p:cNvSpPr/>
          <p:nvPr/>
        </p:nvSpPr>
        <p:spPr>
          <a:xfrm>
            <a:off x="182880" y="636879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78" name="Shape 73"/>
          <p:cNvSpPr/>
          <p:nvPr/>
        </p:nvSpPr>
        <p:spPr>
          <a:xfrm>
            <a:off x="237744" y="64145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79" name="Text 74"/>
          <p:cNvSpPr/>
          <p:nvPr/>
        </p:nvSpPr>
        <p:spPr>
          <a:xfrm>
            <a:off x="237744" y="64145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80" name="Text 75"/>
          <p:cNvSpPr/>
          <p:nvPr/>
        </p:nvSpPr>
        <p:spPr>
          <a:xfrm>
            <a:off x="566928" y="63687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잔치분말 300g</a:t>
            </a:r>
            <a:endParaRPr lang="en-US" sz="950" dirty="0"/>
          </a:p>
        </p:txBody>
      </p:sp>
      <p:sp>
        <p:nvSpPr>
          <p:cNvPr id="81" name="Shape 76"/>
          <p:cNvSpPr/>
          <p:nvPr/>
        </p:nvSpPr>
        <p:spPr>
          <a:xfrm>
            <a:off x="182880" y="673455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77"/>
          <p:cNvSpPr/>
          <p:nvPr/>
        </p:nvSpPr>
        <p:spPr>
          <a:xfrm>
            <a:off x="237744" y="67802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83" name="Text 78"/>
          <p:cNvSpPr/>
          <p:nvPr/>
        </p:nvSpPr>
        <p:spPr>
          <a:xfrm>
            <a:off x="237744" y="67802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84" name="Text 79"/>
          <p:cNvSpPr/>
          <p:nvPr/>
        </p:nvSpPr>
        <p:spPr>
          <a:xfrm>
            <a:off x="566928" y="67345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우골엑기스 450g</a:t>
            </a:r>
            <a:endParaRPr lang="en-US" sz="950" dirty="0"/>
          </a:p>
        </p:txBody>
      </p:sp>
      <p:sp>
        <p:nvSpPr>
          <p:cNvPr id="85" name="Shape 80"/>
          <p:cNvSpPr/>
          <p:nvPr/>
        </p:nvSpPr>
        <p:spPr>
          <a:xfrm>
            <a:off x="182880" y="710031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86" name="Shape 81"/>
          <p:cNvSpPr/>
          <p:nvPr/>
        </p:nvSpPr>
        <p:spPr>
          <a:xfrm>
            <a:off x="237744" y="71460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87" name="Text 82"/>
          <p:cNvSpPr/>
          <p:nvPr/>
        </p:nvSpPr>
        <p:spPr>
          <a:xfrm>
            <a:off x="237744" y="71460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566928" y="71003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소주 1종이컵(180g)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얼큰칼국수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6,800원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칼국수면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당근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호박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얼큰다대기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369417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369417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2679192" y="369417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6" name="Text 51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3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9" name="Text 54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해면기에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2분 40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 삶는다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2" name="Shape 57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3" name="Text 58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면기에 넣고 육수를 채운다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1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7" name="Text 62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얼큰다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추가하고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얼큰칼국수세트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8,800원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칼국수</a:t>
            </a:r>
            <a:r>
              <a:rPr lang="ko-KR" altLang="en-US" sz="800" dirty="0">
                <a:solidFill>
                  <a:srgbClr val="3D2010"/>
                </a:solidFill>
              </a:rPr>
              <a:t>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당근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호박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얼큰다대기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튀김만두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ea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369417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369417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공기밥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2679192" y="369417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120 g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6" name="Text 51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3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9" name="Text 54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해면기에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2분 40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 삶는다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2" name="Shape 57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3" name="Text 58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면기에 넣고 육수를 채운다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1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7" name="Text 62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얼큰다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고명을 올린후 튀김만두와 공기밥을 함께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들깨칼국수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7종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>
                <a:solidFill>
                  <a:srgbClr val="3D2010"/>
                </a:solidFill>
              </a:rPr>
              <a:t>칼국수면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500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당근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호박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거피들깨가루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김가루</a:t>
            </a:r>
            <a:r>
              <a:rPr lang="en-US" sz="800" dirty="0">
                <a:solidFill>
                  <a:srgbClr val="3D2010"/>
                </a:solidFill>
              </a:rPr>
              <a:t> 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4" name="Text 39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육수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가열한 후 기포가 올라오면 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들깨가루를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넣어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중약불로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한소끔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끓인다.  들깨가 잘 섞이도록 저어준다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Shape 45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1" name="Text 46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면기에 담고 완성된 들깨육수를 채운다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9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5" name="Text 50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우육칼국수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7종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/>
              <a:t>칼국수면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우뽈살 슬라이스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4" name="Text 39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해면기에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2분 40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 삶는다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Shape 45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1" name="Text 46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면기에 넣고 육수를 채운다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9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5" name="Text 50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소뽈살과 대파, 시치미를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낙지볶음칼국수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8,800원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10종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꼬부리칼국수(채율당)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절단낙지(M) (500g…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깐양배추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세척당근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볶음소스 200g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맛뜨락참기름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3" name="Text 48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0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6" name="Text 51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해면기에 면을 3분간 삶는다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9" name="Shape 54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0" name="Text 55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낙지와 볶음소스, 볶음야채를 넣어 냄비에서 끓인다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8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4" name="Text 59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면기에 면을 넣고 조리된 낙지볶음을 부어준다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7" name="Shape 62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8" name="Text 63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대파를 올려 제공한다</a:t>
            </a:r>
            <a:endParaRPr lang="en-US" sz="9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10C4DDFB-909E-3BAE-D20C-8B8035856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19360"/>
              </p:ext>
            </p:extLst>
          </p:nvPr>
        </p:nvGraphicFramePr>
        <p:xfrm>
          <a:off x="191643" y="6446234"/>
          <a:ext cx="4705351" cy="221535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986423">
                  <a:extLst>
                    <a:ext uri="{9D8B030D-6E8A-4147-A177-3AD203B41FA5}">
                      <a16:colId xmlns:a16="http://schemas.microsoft.com/office/drawing/2014/main" val="3061765124"/>
                    </a:ext>
                  </a:extLst>
                </a:gridCol>
                <a:gridCol w="1360583">
                  <a:extLst>
                    <a:ext uri="{9D8B030D-6E8A-4147-A177-3AD203B41FA5}">
                      <a16:colId xmlns:a16="http://schemas.microsoft.com/office/drawing/2014/main" val="3572531808"/>
                    </a:ext>
                  </a:extLst>
                </a:gridCol>
                <a:gridCol w="793674">
                  <a:extLst>
                    <a:ext uri="{9D8B030D-6E8A-4147-A177-3AD203B41FA5}">
                      <a16:colId xmlns:a16="http://schemas.microsoft.com/office/drawing/2014/main" val="1991986158"/>
                    </a:ext>
                  </a:extLst>
                </a:gridCol>
                <a:gridCol w="793674">
                  <a:extLst>
                    <a:ext uri="{9D8B030D-6E8A-4147-A177-3AD203B41FA5}">
                      <a16:colId xmlns:a16="http://schemas.microsoft.com/office/drawing/2014/main" val="2997193248"/>
                    </a:ext>
                  </a:extLst>
                </a:gridCol>
                <a:gridCol w="770997">
                  <a:extLst>
                    <a:ext uri="{9D8B030D-6E8A-4147-A177-3AD203B41FA5}">
                      <a16:colId xmlns:a16="http://schemas.microsoft.com/office/drawing/2014/main" val="1691815245"/>
                    </a:ext>
                  </a:extLst>
                </a:gridCol>
              </a:tblGrid>
              <a:tr h="297432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볶음소스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200</a:t>
                      </a:r>
                      <a:r>
                        <a:rPr lang="en-US" sz="1400" b="1" u="none" strike="noStrike" dirty="0">
                          <a:effectLst/>
                        </a:rPr>
                        <a:t>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338479"/>
                  </a:ext>
                </a:extLst>
              </a:tr>
              <a:tr h="2974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 재료명 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</a:rPr>
                        <a:t> 대체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재료명</a:t>
                      </a: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</a:rPr>
                        <a:t> 사용량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 단위 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</a:rPr>
                        <a:t>25</a:t>
                      </a:r>
                      <a:r>
                        <a:rPr lang="ko-KR" altLang="en-US" sz="1000" u="none" strike="noStrike" dirty="0">
                          <a:effectLst/>
                        </a:rPr>
                        <a:t>인분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74738118"/>
                  </a:ext>
                </a:extLst>
              </a:tr>
              <a:tr h="297432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볶음소스 </a:t>
                      </a:r>
                      <a:r>
                        <a:rPr lang="en-US" altLang="ko-KR" sz="1000" u="none" strike="noStrike">
                          <a:effectLst/>
                        </a:rPr>
                        <a:t>200</a:t>
                      </a:r>
                      <a:r>
                        <a:rPr lang="en-US" sz="1000" u="none" strike="noStrike">
                          <a:effectLst/>
                        </a:rPr>
                        <a:t>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 err="1">
                          <a:effectLst/>
                        </a:rPr>
                        <a:t>얼큰다대기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16423379"/>
                  </a:ext>
                </a:extLst>
              </a:tr>
              <a:tr h="4205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 err="1">
                          <a:effectLst/>
                        </a:rPr>
                        <a:t>매콤덮밥소스</a:t>
                      </a: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</a:rPr>
                        <a:t>2kg/</a:t>
                      </a:r>
                      <a:r>
                        <a:rPr lang="ko-KR" altLang="en-US" sz="1000" u="none" strike="noStrike" dirty="0">
                          <a:effectLst/>
                        </a:rPr>
                        <a:t>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80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066315"/>
                  </a:ext>
                </a:extLst>
              </a:tr>
              <a:tr h="297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장소스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375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2271056"/>
                  </a:ext>
                </a:extLst>
              </a:tr>
              <a:tr h="297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칼국수육수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1,500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16218999"/>
                  </a:ext>
                </a:extLst>
              </a:tr>
              <a:tr h="307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물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1,500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77314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감자칼국수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8,800원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8종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꼬부리칼국수(채율당)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삼계파우더[쿠거]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수미 생감자[으깬]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루아나버터향 액상마가린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소금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물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450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2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4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해면기에 넣고 3분간 삶는다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8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49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냉장보관된 감자육수 600ml를 냄비에서 끓인다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2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3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용기에 담고 으깬감자를 아이스크림쿱으로 올린다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1" name="Shape 56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2" name="Text 57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끓여진 육수를 준비된 으깬감자와 면위로 부어준다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182880" y="600303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0"/>
          <p:cNvSpPr/>
          <p:nvPr/>
        </p:nvSpPr>
        <p:spPr>
          <a:xfrm>
            <a:off x="237744" y="604875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6" name="Text 61"/>
          <p:cNvSpPr/>
          <p:nvPr/>
        </p:nvSpPr>
        <p:spPr>
          <a:xfrm>
            <a:off x="237744" y="60487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566928" y="600303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파, 부추로 고명을 올려 제공한다</a:t>
            </a:r>
            <a:endParaRPr lang="en-US" sz="950" dirty="0"/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85C240FD-8FBA-4F48-1F0E-B28DC525B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03916"/>
              </p:ext>
            </p:extLst>
          </p:nvPr>
        </p:nvGraphicFramePr>
        <p:xfrm>
          <a:off x="237744" y="6697980"/>
          <a:ext cx="3644900" cy="24536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401740927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  <a:latin typeface="+mn-lt"/>
                        </a:rPr>
                        <a:t>으깬감자</a:t>
                      </a:r>
                      <a:r>
                        <a:rPr lang="ko-KR" altLang="en-US" sz="1100" b="1" u="none" strike="noStrike" dirty="0">
                          <a:effectLst/>
                          <a:latin typeface="+mn-lt"/>
                        </a:rPr>
                        <a:t> 만들기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127518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감자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3kg. </a:t>
                      </a:r>
                      <a:r>
                        <a:rPr lang="ko-KR" altLang="en-US" sz="1000" u="none" strike="noStrike" dirty="0" err="1">
                          <a:effectLst/>
                          <a:latin typeface="+mn-lt"/>
                        </a:rPr>
                        <a:t>껍질벗겨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1cm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크기로 토막내 삶는다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59277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2. </a:t>
                      </a:r>
                      <a:r>
                        <a:rPr lang="ko-KR" altLang="en-US" sz="1000" u="none" strike="noStrike" dirty="0" err="1">
                          <a:effectLst/>
                          <a:latin typeface="+mn-lt"/>
                        </a:rPr>
                        <a:t>삶은물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+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감자가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3kg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이 되게 물을 버린다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465584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3. </a:t>
                      </a:r>
                      <a:r>
                        <a:rPr lang="ko-KR" altLang="en-US" sz="1000" u="none" strike="noStrike" dirty="0" err="1">
                          <a:effectLst/>
                          <a:latin typeface="+mn-lt"/>
                        </a:rPr>
                        <a:t>버터유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100g.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소금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5g.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넣고 으깬다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399387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4.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통에 담아 식힌 후 냉장보관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4014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06052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  <a:latin typeface="+mn-lt"/>
                        </a:rPr>
                        <a:t> 감자육수 만들기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itchFamily="2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823677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생수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3</a:t>
                      </a:r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kg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itchFamily="2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358470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2. 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치킨파우더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120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itchFamily="2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20108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3. </a:t>
                      </a:r>
                      <a:r>
                        <a:rPr lang="ko-KR" altLang="en-US" sz="1000" u="none" strike="noStrike" dirty="0" err="1">
                          <a:effectLst/>
                          <a:latin typeface="+mn-lt"/>
                        </a:rPr>
                        <a:t>으깬감자</a:t>
                      </a:r>
                      <a:r>
                        <a:rPr lang="ko-KR" altLang="en-US" sz="1000" u="none" strike="noStrike" dirty="0">
                          <a:effectLst/>
                          <a:latin typeface="+mn-lt"/>
                        </a:rPr>
                        <a:t>  </a:t>
                      </a:r>
                      <a:r>
                        <a:rPr lang="en-US" altLang="ko-KR" sz="1000" u="none" strike="noStrike" dirty="0">
                          <a:effectLst/>
                          <a:latin typeface="+mn-lt"/>
                        </a:rPr>
                        <a:t>1000</a:t>
                      </a:r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g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itchFamily="2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6655233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4.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잘 풀어지도록 저어준다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86154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다산38국수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53765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8종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550 ml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데친숙주나물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나무야 슬라이스냉동유부 …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/>
              <a:t>깐대파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계란얇은고명지단(개/70…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김가루</a:t>
            </a:r>
            <a:r>
              <a:rPr lang="en-US" sz="800" dirty="0">
                <a:solidFill>
                  <a:srgbClr val="3D2010"/>
                </a:solidFill>
              </a:rPr>
              <a:t> 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2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4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8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49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잔치육수 550ml를 부어준다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2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3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얼큰국수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5,800원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10종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550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데친숙주나물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나무야 슬라이스냉동유부 …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계란얇은고명지단(개/70…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얼큰다대기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3" name="Text 48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0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6" name="Text 51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9" name="Shape 54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0" name="Text 55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잔치육수 550ml를 부어준다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8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4" name="Text 59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얼큰다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지정된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김치듬뿍국수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5,800원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8종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550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데친숙주나물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나무야 슬라이스냉동유부 …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강동다진김치</a:t>
            </a:r>
            <a:r>
              <a:rPr lang="en-US" sz="800" dirty="0">
                <a:solidFill>
                  <a:srgbClr val="3D2010"/>
                </a:solidFill>
              </a:rPr>
              <a:t>…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85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 400g/개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2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4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8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49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잔치육수 550ml를 부어준다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2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3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다진김치와 지정된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어묵국수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5,800원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ml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나무야 슬라이스냉동유부 …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 400g/개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쑥갓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계란얇은고명지단(개/70…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미니꼬치어묵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ea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69417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69417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69417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g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3" name="Text 48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0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6" name="Text 51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9" name="Shape 54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0" name="Text 55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잔치육수 550ml를 부어준다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8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4" name="Text 59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미니꼬치어묵과 지정된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비빔국수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6,800원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8종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국수나무비빔장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냉면육수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샐러드야채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>
                <a:solidFill>
                  <a:srgbClr val="3D2010"/>
                </a:solidFill>
              </a:rPr>
              <a:t>무김치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청오이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삶은달걀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0.5 ea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2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4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2분30초 해면기에 삶는다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8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49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2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3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용기에 올리고 비빔장을 덮어준다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1" name="Shape 56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2" name="Text 57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냉면육수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슬러시를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면주변으로 부어준다</a:t>
            </a:r>
            <a:endParaRPr lang="en-US" altLang="ko-KR" sz="950" dirty="0"/>
          </a:p>
        </p:txBody>
      </p:sp>
      <p:sp>
        <p:nvSpPr>
          <p:cNvPr id="65" name="Shape 60"/>
          <p:cNvSpPr/>
          <p:nvPr/>
        </p:nvSpPr>
        <p:spPr>
          <a:xfrm>
            <a:off x="237744" y="604875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6" name="Text 61"/>
          <p:cNvSpPr/>
          <p:nvPr/>
        </p:nvSpPr>
        <p:spPr>
          <a:xfrm>
            <a:off x="237744" y="60487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566928" y="600303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준비된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얼큰어묵국수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6,800원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10종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550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나무야 슬라이스냉동유부 …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ea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미니꼬치어묵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ea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푸주_ 5개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18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얼큰다대기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3" name="Text 48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0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6" name="Text 51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9" name="Shape 54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0" name="Text 55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얼큰다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넣어준다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8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4" name="Text 59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미니꼬치어묵, 푸주와 고명을 올려준다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7" name="Shape 62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8" name="Text 63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잔치육수 550ml를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부어준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 시치미를 뿌려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얼큰고기국수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잔치분말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우골농축액플러스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우삼겹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데친숙주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얼큰다대기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82880" y="369417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369417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시치미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2679192" y="369417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6" name="Text 51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3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9" name="Text 54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2" name="Shape 57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3" name="Text 58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칼국수육수 600ml에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우삼겹과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얼큰다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넣어 끓인다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1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7" name="Text 62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면위에 숙주를 올리고 그위에 끓여진 육수를 부어준다</a:t>
            </a:r>
            <a:endParaRPr lang="en-US" sz="950" dirty="0"/>
          </a:p>
        </p:txBody>
      </p:sp>
      <p:sp>
        <p:nvSpPr>
          <p:cNvPr id="69" name="Shape 64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70" name="Shape 65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71" name="Text 66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팽이, 부추, 대파, 시치미를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소고기국수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6종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잔치육수(완)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600 ml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생숙주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우삼겹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부추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1" name="Text 36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8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1분30초 해면기에 삶는다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Shape 42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8" name="Text 43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잔치육수에 우삼겹을 넣어 끓이다 숙주를 올려 좀더 끓여낸다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6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2" name="Text 47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면위에 끓여진 육수와 숙주를 올린다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5" name="Shape 50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6" name="Text 51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대파와 부추로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냉국수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6,800원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8종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냉면육수/골드사골통합(빨…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무김치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취청오이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강동다진김치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삶은달걀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 .5ea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 400g/개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2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4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2분30초 해면기에 삶는다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8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49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2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3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용기에 담고 냉면육수를 부어준다(냉면육수는 슬러시와 육수가 고르게 섞이도록 한다)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1" name="Shape 56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2" name="Text 57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고명과 삶은계란을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메밀싹냉국수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6,800원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9종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미츠칸쯔유</a:t>
            </a:r>
            <a:r>
              <a:rPr lang="ko-KR" altLang="en-US" sz="800" dirty="0">
                <a:solidFill>
                  <a:srgbClr val="3D2010"/>
                </a:solidFill>
              </a:rPr>
              <a:t> </a:t>
            </a:r>
            <a:r>
              <a:rPr lang="en-US" sz="800" dirty="0" err="1">
                <a:solidFill>
                  <a:srgbClr val="3D2010"/>
                </a:solidFill>
              </a:rPr>
              <a:t>소바소스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움트리 와사비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(H)청오이/낱개(개)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대파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메밀싹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생수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각얼음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 ea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2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4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5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2분30초 해면기에 삶는다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8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49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2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3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용기에 담고 준비된 육수와 각얼음을 부어준다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182880" y="587044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1" name="Shape 56"/>
          <p:cNvSpPr/>
          <p:nvPr/>
        </p:nvSpPr>
        <p:spPr>
          <a:xfrm>
            <a:off x="237744" y="59161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2" name="Text 57"/>
          <p:cNvSpPr/>
          <p:nvPr/>
        </p:nvSpPr>
        <p:spPr>
          <a:xfrm>
            <a:off x="237744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566928" y="58704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고명과 메밀싹을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열무국수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7종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열무물김치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냉면육수/</a:t>
            </a:r>
            <a:r>
              <a:rPr lang="en-US" sz="800" dirty="0" err="1">
                <a:solidFill>
                  <a:srgbClr val="3D2010"/>
                </a:solidFill>
              </a:rPr>
              <a:t>골드사골통</a:t>
            </a:r>
            <a:r>
              <a:rPr lang="ko-KR" altLang="en-US" sz="800" dirty="0">
                <a:solidFill>
                  <a:srgbClr val="3D2010"/>
                </a:solidFill>
              </a:rPr>
              <a:t>합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무김치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(H)청오이/낱개(개)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삶은달걀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0.5 ea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1" name="Text 36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8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2분30초 해면기에 삶는다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Shape 42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8" name="Text 43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6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2" name="Text 47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열무육수를 부어준 후 냉면육수 슬러시를 주변으로 추가 부어준다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182880" y="587044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5" name="Shape 50"/>
          <p:cNvSpPr/>
          <p:nvPr/>
        </p:nvSpPr>
        <p:spPr>
          <a:xfrm>
            <a:off x="237744" y="59161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6" name="Text 51"/>
          <p:cNvSpPr/>
          <p:nvPr/>
        </p:nvSpPr>
        <p:spPr>
          <a:xfrm>
            <a:off x="237744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66928" y="58704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고명과 삶은계란을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콩국수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10종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생면1.0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두부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큐원 갈색설탕 3kg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천일염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(H)청오이/낱개(개)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살음달걀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0.5 ea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용식품용면가 </a:t>
            </a:r>
            <a:r>
              <a:rPr lang="en-US" sz="800" dirty="0" err="1">
                <a:solidFill>
                  <a:srgbClr val="3D2010"/>
                </a:solidFill>
              </a:rPr>
              <a:t>콩국수용</a:t>
            </a:r>
            <a:r>
              <a:rPr lang="en-US" sz="800" dirty="0">
                <a:solidFill>
                  <a:srgbClr val="3D2010"/>
                </a:solidFill>
              </a:rPr>
              <a:t> 콩</a:t>
            </a:r>
            <a:r>
              <a:rPr lang="ko-KR" altLang="en-US" sz="800" dirty="0">
                <a:solidFill>
                  <a:srgbClr val="3D2010"/>
                </a:solidFill>
              </a:rPr>
              <a:t>가루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물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200 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82880" y="346100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346100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각얼음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679192" y="346100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 ea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50" name="Text 45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7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2분30초 해면기에 삶는다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6" name="Shape 51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7" name="Text 52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5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1" name="Text 56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갈아둔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콩물과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각얼음을 부어준다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182880" y="587044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4" name="Shape 59"/>
          <p:cNvSpPr/>
          <p:nvPr/>
        </p:nvSpPr>
        <p:spPr>
          <a:xfrm>
            <a:off x="237744" y="59161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5" name="Text 60"/>
          <p:cNvSpPr/>
          <p:nvPr/>
        </p:nvSpPr>
        <p:spPr>
          <a:xfrm>
            <a:off x="237744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566928" y="58704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고명과 삶은계란을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물냉면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6,800원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6종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평양냉면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냉면육수/</a:t>
            </a:r>
            <a:r>
              <a:rPr lang="en-US" sz="800" dirty="0" err="1">
                <a:solidFill>
                  <a:srgbClr val="3D2010"/>
                </a:solidFill>
              </a:rPr>
              <a:t>골드사골통합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550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무김치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(H)청오이/낱개(개)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삶은달걀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 .5ea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38" name="Text 33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5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냉면을 1분간 해면기에 삶는다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4" name="Shape 39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5" name="Text 40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9" name="Text 44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용기에 담고 냉면육수를 부어준다(냉면육수는 슬러시와 육수가 고르게 섞이도록 한다)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182880" y="587044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2" name="Shape 47"/>
          <p:cNvSpPr/>
          <p:nvPr/>
        </p:nvSpPr>
        <p:spPr>
          <a:xfrm>
            <a:off x="237744" y="59161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566928" y="58704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고명과 삶은계란을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비빔냉면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7,800원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429000" y="10515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5" name="Text 11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7,800원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3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9종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평양냉면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9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냉면육수/</a:t>
            </a:r>
            <a:r>
              <a:rPr lang="en-US" sz="800" dirty="0" err="1">
                <a:solidFill>
                  <a:srgbClr val="3D2010"/>
                </a:solidFill>
              </a:rPr>
              <a:t>골드사골통합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70 g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국수나무비빔장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120 g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5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샐러드야채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40 g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무김치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1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(H)청오이/낱개(개)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4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 err="1">
                <a:solidFill>
                  <a:srgbClr val="3D2010"/>
                </a:solidFill>
              </a:rPr>
              <a:t>삶은달걀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0.5 ea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82880" y="299466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7"/>
          <p:cNvSpPr/>
          <p:nvPr/>
        </p:nvSpPr>
        <p:spPr>
          <a:xfrm>
            <a:off x="237744" y="299466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679192" y="299466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182880" y="322783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0"/>
          <p:cNvSpPr/>
          <p:nvPr/>
        </p:nvSpPr>
        <p:spPr>
          <a:xfrm>
            <a:off x="237744" y="322783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>
                <a:solidFill>
                  <a:srgbClr val="3D2010"/>
                </a:solidFill>
              </a:rPr>
              <a:t>참기름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2679192" y="322783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7" name="Text 43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5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0" name="Text 46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냉면을 1분간 해면기에 삶는다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3" name="Shape 49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4" name="Text 50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삶아진 면을 세척후 냉각기에 충분히 냉각시킨다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3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8" name="Text 54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면을 용기에 담고 비빔장을 부어준다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182880" y="587044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1" name="Shape 57"/>
          <p:cNvSpPr/>
          <p:nvPr/>
        </p:nvSpPr>
        <p:spPr>
          <a:xfrm>
            <a:off x="237744" y="59161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2" name="Text 58"/>
          <p:cNvSpPr/>
          <p:nvPr/>
        </p:nvSpPr>
        <p:spPr>
          <a:xfrm>
            <a:off x="237744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566928" y="58704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주변으로 참기름을 둘러준다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182880" y="623620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1"/>
          <p:cNvSpPr/>
          <p:nvPr/>
        </p:nvSpPr>
        <p:spPr>
          <a:xfrm>
            <a:off x="237744" y="628192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6" name="Text 62"/>
          <p:cNvSpPr/>
          <p:nvPr/>
        </p:nvSpPr>
        <p:spPr>
          <a:xfrm>
            <a:off x="237744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566928" y="623620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삶은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올려 제공한다</a:t>
            </a:r>
            <a:endParaRPr lang="en-US" sz="95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FFEB827-B204-5A91-18A4-29B4B217C29F}"/>
              </a:ext>
            </a:extLst>
          </p:cNvPr>
          <p:cNvGrpSpPr/>
          <p:nvPr/>
        </p:nvGrpSpPr>
        <p:grpSpPr>
          <a:xfrm>
            <a:off x="3429000" y="1051560"/>
            <a:ext cx="3246120" cy="3246120"/>
            <a:chOff x="3429000" y="1051560"/>
            <a:chExt cx="3246120" cy="3246120"/>
          </a:xfrm>
        </p:grpSpPr>
        <p:sp>
          <p:nvSpPr>
            <p:cNvPr id="12" name="Shape 8"/>
            <p:cNvSpPr/>
            <p:nvPr/>
          </p:nvSpPr>
          <p:spPr>
            <a:xfrm>
              <a:off x="3429000" y="1051560"/>
              <a:ext cx="3246120" cy="3246120"/>
            </a:xfrm>
            <a:prstGeom prst="rect">
              <a:avLst/>
            </a:prstGeom>
            <a:solidFill>
              <a:srgbClr val="EDD9C4"/>
            </a:solidFill>
            <a:ln/>
          </p:spPr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6BDA58B4-C411-2AF2-4A60-9D5FFEA1A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43300" y="1165868"/>
              <a:ext cx="2972021" cy="25328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매콤제육덮밥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4,800원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6종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전처리양념제육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150 g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함양농협쌀 취사후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140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김가루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계란얇은고명지단(개/70…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맛뜨락참기름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55448" y="4453128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38" name="Text 33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5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0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ko-KR" altLang="en-US" sz="1000" b="1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양념제육전처리</a:t>
            </a:r>
            <a:r>
              <a:rPr lang="en-US" altLang="ko-KR" sz="10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양념육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1kg,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식용유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1국자, 양념돼지고기 적당한 크기로 자르고 덮밥소스 300g 넣고 볶는다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5" name="Text 40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돼지고기 익으면 볶음야채 700g 넣고 야채 익을때까지 잘 볶아준다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Shape 43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9" name="Text 44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[볶음야채 </a:t>
            </a:r>
            <a:r>
              <a:rPr lang="en-US" sz="1000" b="1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r>
              <a:rPr lang="en-US" sz="10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r>
              <a:rPr lang="en-US" altLang="ko-KR" sz="10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양배추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1/2통, </a:t>
            </a:r>
            <a:r>
              <a:rPr lang="en-US" altLang="ko-KR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양파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3~4개, </a:t>
            </a:r>
            <a:r>
              <a:rPr lang="en-US" altLang="ko-KR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1/2개, </a:t>
            </a:r>
            <a:r>
              <a:rPr lang="en-US" altLang="ko-KR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대파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3~4개(2*2cm)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섞어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밀폐냉장보관한다</a:t>
            </a:r>
            <a:endParaRPr lang="en-US" altLang="ko-KR" sz="950" dirty="0"/>
          </a:p>
        </p:txBody>
      </p:sp>
      <p:sp>
        <p:nvSpPr>
          <p:cNvPr id="55" name="Shape 50"/>
          <p:cNvSpPr/>
          <p:nvPr/>
        </p:nvSpPr>
        <p:spPr>
          <a:xfrm>
            <a:off x="182880" y="623620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1"/>
          <p:cNvSpPr/>
          <p:nvPr/>
        </p:nvSpPr>
        <p:spPr>
          <a:xfrm>
            <a:off x="237744" y="628192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7" name="Text 52"/>
          <p:cNvSpPr/>
          <p:nvPr/>
        </p:nvSpPr>
        <p:spPr>
          <a:xfrm>
            <a:off x="237744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566928" y="623620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밥을 용기에 담고 전처리 양념제육을 중량만큼 올려준다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182880" y="660196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60" name="Shape 55"/>
          <p:cNvSpPr/>
          <p:nvPr/>
        </p:nvSpPr>
        <p:spPr>
          <a:xfrm>
            <a:off x="237744" y="66476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61" name="Text 56"/>
          <p:cNvSpPr/>
          <p:nvPr/>
        </p:nvSpPr>
        <p:spPr>
          <a:xfrm>
            <a:off x="237744" y="6647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566928" y="66019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참기름을 두른후 고명을 올려 제공한다</a:t>
            </a:r>
            <a:endParaRPr lang="en-US" sz="950" dirty="0"/>
          </a:p>
        </p:txBody>
      </p:sp>
      <p:sp>
        <p:nvSpPr>
          <p:cNvPr id="64" name="Shape 32">
            <a:extLst>
              <a:ext uri="{FF2B5EF4-FFF2-40B4-BE49-F238E27FC236}">
                <a16:creationId xmlns:a16="http://schemas.microsoft.com/office/drawing/2014/main" id="{A0D7F5FB-9F59-BC66-48C2-8FACFC8E7E39}"/>
              </a:ext>
            </a:extLst>
          </p:cNvPr>
          <p:cNvSpPr/>
          <p:nvPr/>
        </p:nvSpPr>
        <p:spPr>
          <a:xfrm>
            <a:off x="198120" y="5912358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2F93C4F0-D57E-AB2D-6A8E-57DB45DE36F3}"/>
              </a:ext>
            </a:extLst>
          </p:cNvPr>
          <p:cNvSpPr/>
          <p:nvPr/>
        </p:nvSpPr>
        <p:spPr>
          <a:xfrm>
            <a:off x="226695" y="5900547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제공방</a:t>
            </a: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파닭마요덮밥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139428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139428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1394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4,800원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64388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7종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치킨다리살스테이크/닭다리…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70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콩식용유/메리쉐프(통/1…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뚜레반 만능요리간장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계란얇은고명지단(개/70…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함양농협쌀 취사후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140 g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82880" y="276148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276148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오뚜기마요네즈 3.2kg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679192" y="276148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82880" y="4229100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44" name="Text 39"/>
          <p:cNvSpPr/>
          <p:nvPr/>
        </p:nvSpPr>
        <p:spPr>
          <a:xfrm>
            <a:off x="274320" y="42291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82880" y="453999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237744" y="458571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7" name="Text 42"/>
          <p:cNvSpPr/>
          <p:nvPr/>
        </p:nvSpPr>
        <p:spPr>
          <a:xfrm>
            <a:off x="237744" y="45857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66928" y="453999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닭다리살을 기름에 볶는다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182880" y="490575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0" name="Shape 45"/>
          <p:cNvSpPr/>
          <p:nvPr/>
        </p:nvSpPr>
        <p:spPr>
          <a:xfrm>
            <a:off x="237744" y="495147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1" name="Text 46"/>
          <p:cNvSpPr/>
          <p:nvPr/>
        </p:nvSpPr>
        <p:spPr>
          <a:xfrm>
            <a:off x="237744" y="49514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566928" y="49057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밥위에 간장을 뿌려준다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182880" y="5271516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9"/>
          <p:cNvSpPr/>
          <p:nvPr/>
        </p:nvSpPr>
        <p:spPr>
          <a:xfrm>
            <a:off x="237744" y="531723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5" name="Text 50"/>
          <p:cNvSpPr/>
          <p:nvPr/>
        </p:nvSpPr>
        <p:spPr>
          <a:xfrm>
            <a:off x="237744" y="53172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566928" y="527151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닭. 지단, 대파를 고명으로 올려준다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182880" y="5637276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8" name="Shape 53"/>
          <p:cNvSpPr/>
          <p:nvPr/>
        </p:nvSpPr>
        <p:spPr>
          <a:xfrm>
            <a:off x="237744" y="5682996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9" name="Text 54"/>
          <p:cNvSpPr/>
          <p:nvPr/>
        </p:nvSpPr>
        <p:spPr>
          <a:xfrm>
            <a:off x="237744" y="56829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566928" y="56372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마요네즈를 가로세로로 토핑한다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계란후라이밥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2,800원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6종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함양농협쌀 취사후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120 g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루아나버터향 액상마가린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뚜레반 만능요리간장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풍림 계란후라이(쿠거)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개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2528316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252831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맛뜨락참기름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9192" y="252831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38" name="Text 33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5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1" name="Text 36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밥을 퍼서 밥그릇에 담는다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4" name="Shape 39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5" name="Text 40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참기름과 액상버터를 밥위에 둘러 뿌려준다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9" name="Text 44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계란후라이를 올리고 간장을 둘러준다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182880" y="587044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52" name="Shape 47"/>
          <p:cNvSpPr/>
          <p:nvPr/>
        </p:nvSpPr>
        <p:spPr>
          <a:xfrm>
            <a:off x="237744" y="59161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53" name="Text 48"/>
          <p:cNvSpPr/>
          <p:nvPr/>
        </p:nvSpPr>
        <p:spPr>
          <a:xfrm>
            <a:off x="237744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566928" y="58704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고명을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올려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제공한다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상권고객에 따라 시치미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참깨를 뿌린다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미니치즈돈까스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4,800원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3종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자연치즈돈까스 (110g)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돈까스소스플러스</a:t>
            </a:r>
            <a:r>
              <a:rPr lang="en-US" sz="800" dirty="0">
                <a:solidFill>
                  <a:srgbClr val="3D2010"/>
                </a:solidFill>
              </a:rPr>
              <a:t> 2kg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파슬리후레이크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29" name="Text 24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 170도(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가스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가열후 냉동상태의 치즈돈까스를 5분간 튀긴다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Shape 30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6" name="Text 31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건진후 기름을 빼고 휴지시킨후 5조각으로 절단하여 접시에 담는다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4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0" name="Text 35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파슬리후레이크를 뿌린후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미니돈까스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3종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등심돈까스100g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D2010"/>
                </a:solidFill>
              </a:rPr>
              <a:t>돈까스소스플러스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파슬리후레이크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29" name="Text 24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 170도(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가스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가열후 냉동상태의 미니등심돈까스를 5분간 튀긴다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5" name="Shape 30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6" name="Text 31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건진후 기름을 빼고 휴지시킨후 5조각으로 절단하여 접시에 담는다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182880" y="550468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4"/>
          <p:cNvSpPr/>
          <p:nvPr/>
        </p:nvSpPr>
        <p:spPr>
          <a:xfrm>
            <a:off x="237744" y="555040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0" name="Text 35"/>
          <p:cNvSpPr/>
          <p:nvPr/>
        </p:nvSpPr>
        <p:spPr>
          <a:xfrm>
            <a:off x="237744" y="5550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566928" y="550468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파슬리후레이크를 뿌린후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튀김만두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왕교자만두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4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23" name="Text 18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 170도(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가스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가열후 냉동상태의 왕교자만두를 5분간 튀긴다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Shape 24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0" name="Text 25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건진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후 기름을 빼고 휴지시킨후 접시에 담는다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꼬맹이물만두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4종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물만두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01168" y="1856232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참기름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10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200025" y="1622679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52032" y="1595247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참깨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161182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32" name="Text 27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9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5" name="Text 30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끓는물에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냉동물만두를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3분간 삶는다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8" name="Shape 33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9" name="Text 34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물에서 건진후 참기름과 참깨를 뿌려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팝콘군만두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물만두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23" name="Text 18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 170도(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가스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튀김기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가열후 냉동상태의 물만두를 3분간 튀긴다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Shape 24"/>
          <p:cNvSpPr/>
          <p:nvPr/>
        </p:nvSpPr>
        <p:spPr>
          <a:xfrm>
            <a:off x="256032" y="523036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0" name="Text 25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건진후 기름을 빼고 휴지시킨후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접시에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담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 제공한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고기찐만두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2종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고기만두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5 ea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26" name="Text 21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냉동만두를 찜기에서 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6~7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분간 찐다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찜기에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따라 상이함</a:t>
            </a:r>
            <a:r>
              <a:rPr lang="en-US" altLang="ko-KR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726D9F3C-B28E-1603-96FF-516CCB283B3F}"/>
              </a:ext>
            </a:extLst>
          </p:cNvPr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60210BDD-BB85-1328-7F2E-2F0A0F8B23D7}"/>
              </a:ext>
            </a:extLst>
          </p:cNvPr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2B2378FC-E5D9-FA56-2635-37F4E05B9421}"/>
              </a:ext>
            </a:extLst>
          </p:cNvPr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만두간장과 함께 접시 또는 </a:t>
            </a:r>
            <a:r>
              <a:rPr lang="ko-KR" alt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찜기용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트레이에 담아 제공한다</a:t>
            </a:r>
            <a:endParaRPr lang="en-US" sz="95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F4C023DC-491B-A126-1836-FA2D1DF37A9E}"/>
              </a:ext>
            </a:extLst>
          </p:cNvPr>
          <p:cNvSpPr/>
          <p:nvPr/>
        </p:nvSpPr>
        <p:spPr>
          <a:xfrm>
            <a:off x="251460" y="5193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직화불고기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3,800원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83280" y="1005840"/>
            <a:ext cx="3337560" cy="3337560"/>
          </a:xfrm>
          <a:prstGeom prst="rect">
            <a:avLst/>
          </a:prstGeom>
          <a:solidFill>
            <a:srgbClr val="5C3B2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0" y="1051560"/>
            <a:ext cx="3246120" cy="3246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B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2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5종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돼지불고기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80 ea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2880" y="1595628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3" name="Text 18"/>
          <p:cNvSpPr/>
          <p:nvPr/>
        </p:nvSpPr>
        <p:spPr>
          <a:xfrm>
            <a:off x="237744" y="1595628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데친숙주나물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79192" y="1595628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30 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82880" y="1828800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237744" y="1828800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볶음참깨 1kg/개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79192" y="1828800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 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82880" y="2061972"/>
            <a:ext cx="3154680" cy="233172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29" name="Text 24"/>
          <p:cNvSpPr/>
          <p:nvPr/>
        </p:nvSpPr>
        <p:spPr>
          <a:xfrm>
            <a:off x="237744" y="2061972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(H)깐대파(단/1kg)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79192" y="2061972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20 g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82880" y="2295144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237744" y="2295144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팽이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2679192" y="2295144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15 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82880" y="4462272"/>
            <a:ext cx="6492240" cy="310896"/>
          </a:xfrm>
          <a:prstGeom prst="rect">
            <a:avLst/>
          </a:prstGeom>
          <a:solidFill>
            <a:srgbClr val="5C3B20"/>
          </a:solidFill>
          <a:ln/>
        </p:spPr>
      </p:sp>
      <p:sp>
        <p:nvSpPr>
          <p:cNvPr id="35" name="Text 30"/>
          <p:cNvSpPr/>
          <p:nvPr/>
        </p:nvSpPr>
        <p:spPr>
          <a:xfrm>
            <a:off x="274320" y="44622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조리법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182880" y="4773168"/>
            <a:ext cx="6492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237744" y="481888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38" name="Text 33"/>
          <p:cNvSpPr/>
          <p:nvPr/>
        </p:nvSpPr>
        <p:spPr>
          <a:xfrm>
            <a:off x="237744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566928" y="47731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돼지불고기를 팬위에서 볶다가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익어가면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삶은숙주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팽이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함께 넣어 좀더 조리하여 완료한다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182880" y="5138928"/>
            <a:ext cx="6492240" cy="36576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41" name="Shape 36"/>
          <p:cNvSpPr/>
          <p:nvPr/>
        </p:nvSpPr>
        <p:spPr>
          <a:xfrm>
            <a:off x="237744" y="5184648"/>
            <a:ext cx="274320" cy="274320"/>
          </a:xfrm>
          <a:prstGeom prst="ellipse">
            <a:avLst/>
          </a:prstGeom>
          <a:solidFill>
            <a:srgbClr val="835A3C"/>
          </a:solidFill>
          <a:ln/>
        </p:spPr>
      </p:sp>
      <p:sp>
        <p:nvSpPr>
          <p:cNvPr id="42" name="Text 37"/>
          <p:cNvSpPr/>
          <p:nvPr/>
        </p:nvSpPr>
        <p:spPr>
          <a:xfrm>
            <a:off x="237744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566928" y="51389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조리된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재료를 </a:t>
            </a:r>
            <a:r>
              <a:rPr lang="en-US" sz="950" dirty="0" err="1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용기에</a:t>
            </a:r>
            <a:r>
              <a:rPr lang="en-US" sz="9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담고 고명을 올려 제공한다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6858000" cy="45720"/>
          </a:xfrm>
          <a:prstGeom prst="rect">
            <a:avLst/>
          </a:prstGeom>
          <a:solidFill>
            <a:srgbClr val="5C3B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공기밥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65836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7EBD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 | 레시피 카드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77840" y="9372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7EBDF"/>
                </a:solidFill>
              </a:rPr>
              <a:t>1,000원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493008" y="1051560"/>
            <a:ext cx="3246120" cy="3246120"/>
          </a:xfrm>
          <a:prstGeom prst="rect">
            <a:avLst/>
          </a:prstGeom>
          <a:solidFill>
            <a:srgbClr val="EDD9C4"/>
          </a:solidFill>
          <a:ln/>
        </p:spPr>
      </p:sp>
      <p:sp>
        <p:nvSpPr>
          <p:cNvPr id="13" name="Text 9"/>
          <p:cNvSpPr/>
          <p:nvPr/>
        </p:nvSpPr>
        <p:spPr>
          <a:xfrm>
            <a:off x="3429000" y="10515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5" name="Text 11"/>
          <p:cNvSpPr/>
          <p:nvPr/>
        </p:nvSpPr>
        <p:spPr>
          <a:xfrm>
            <a:off x="3429000" y="38770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1,000원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82880" y="1051560"/>
            <a:ext cx="3154680" cy="310896"/>
          </a:xfrm>
          <a:prstGeom prst="rect">
            <a:avLst/>
          </a:prstGeom>
          <a:solidFill>
            <a:srgbClr val="835A3C"/>
          </a:solidFill>
          <a:ln/>
        </p:spPr>
      </p:sp>
      <p:sp>
        <p:nvSpPr>
          <p:cNvPr id="17" name="Text 13"/>
          <p:cNvSpPr/>
          <p:nvPr/>
        </p:nvSpPr>
        <p:spPr>
          <a:xfrm>
            <a:off x="256032" y="1051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재료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88920" y="1051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EBDF"/>
                </a:solidFill>
              </a:rPr>
              <a:t>1종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82880" y="1362456"/>
            <a:ext cx="3154680" cy="233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237744" y="1362456"/>
            <a:ext cx="24688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010"/>
                </a:solidFill>
              </a:rPr>
              <a:t>함양농협쌀 취사후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679192" y="1362456"/>
            <a:ext cx="5943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35A3C"/>
                </a:solidFill>
              </a:rPr>
              <a:t>120 g</a:t>
            </a:r>
            <a:endParaRPr lang="en-US" sz="8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547935B-9909-90DD-03CD-DE57AD16C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637" y="1485899"/>
            <a:ext cx="2638293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835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A06B3D"/>
          </a:solidFill>
          <a:ln w="12700">
            <a:solidFill>
              <a:srgbClr val="A06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6976872"/>
            <a:ext cx="4114800" cy="4114800"/>
          </a:xfrm>
          <a:prstGeom prst="ellipse">
            <a:avLst/>
          </a:prstGeom>
          <a:solidFill>
            <a:srgbClr val="5C3B20"/>
          </a:solidFill>
          <a:ln w="12700">
            <a:solidFill>
              <a:srgbClr val="5C3B2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56032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4754880"/>
            <a:ext cx="4114800" cy="36576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48463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청년38국수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kern="0" spc="300" dirty="0">
                <a:solidFill>
                  <a:srgbClr val="F7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가맹점 표준메뉴 레시피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371600" y="6583680"/>
            <a:ext cx="4114800" cy="36576"/>
          </a:xfrm>
          <a:prstGeom prst="rect">
            <a:avLst/>
          </a:prstGeom>
          <a:solidFill>
            <a:srgbClr val="F7EBD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84124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EBDF">
                    <a:alpha val="60000"/>
                  </a:srgbClr>
                </a:solidFill>
              </a:rPr>
              <a:t>본 자료는 가맹점 내부용으로 외부 공개를 금합니다.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372600"/>
            <a:ext cx="6858000" cy="347472"/>
          </a:xfrm>
          <a:prstGeom prst="rect">
            <a:avLst/>
          </a:prstGeom>
          <a:solidFill>
            <a:srgbClr val="3D1C0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93908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" y="9372600"/>
            <a:ext cx="3771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EBDF">
                    <a:alpha val="80000"/>
                  </a:srgbClr>
                </a:solidFill>
              </a:rPr>
              <a:t>청년38국수 가맹점 표준메뉴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3587</Words>
  <Application>Microsoft Office PowerPoint</Application>
  <PresentationFormat>사용자 지정</PresentationFormat>
  <Paragraphs>1419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나눔고딕</vt:lpstr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청년38국수 표준메뉴</dc:title>
  <dc:subject>PptxGenJS Presentation</dc:subject>
  <dc:creator>PptxGenJS</dc:creator>
  <cp:lastModifiedBy>kangwanwung@gmail.com</cp:lastModifiedBy>
  <cp:revision>7</cp:revision>
  <dcterms:created xsi:type="dcterms:W3CDTF">2026-03-11T09:01:12Z</dcterms:created>
  <dcterms:modified xsi:type="dcterms:W3CDTF">2026-03-12T04:31:35Z</dcterms:modified>
</cp:coreProperties>
</file>